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omments/modernComment_7FFD5308_2A116089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14730829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4D2EC0-DEF7-8E39-7E90-DCCA5064ABBB}" name="Timor Praag" initials="TP" userId="S::tpraag@nvidia.com::f02e35ab-2a6f-4b53-8a9f-d518632e03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18"/>
  </p:normalViewPr>
  <p:slideViewPr>
    <p:cSldViewPr snapToGrid="0" snapToObjects="1">
      <p:cViewPr>
        <p:scale>
          <a:sx n="111" d="100"/>
          <a:sy n="111" d="100"/>
        </p:scale>
        <p:origin x="-632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7FFD5308_2A11608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5FE495F-F3CD-4BD1-86D6-9B1ED10CD2DE}" authorId="{2F4D2EC0-DEF7-8E39-7E90-DCCA5064ABBB}" created="2022-07-05T07:20:30.4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705781897" sldId="2147308296"/>
      <ac:picMk id="36" creationId="{C5AFDB8A-3B01-4559-B834-2EA05FC8582D}"/>
    </ac:deMkLst>
    <p188:txBody>
      <a:bodyPr/>
      <a:lstStyle/>
      <a:p>
        <a:r>
          <a:rPr lang="en-US"/>
          <a:t>ANIMATION
- bullet 1: Reveal topology
- bullet 2: Highlight links - green wipes on separate layer
- send packet from one sever to another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D723BE-7D06-8C45-BA38-998A2AD5DED4}" type="datetimeFigureOut">
              <a:rPr lang="en-IL" smtClean="0"/>
              <a:t>28/06/2026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1F35A-506A-2145-95DD-C70036A0DCE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01588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b="0" i="0">
                <a:solidFill>
                  <a:srgbClr val="424242"/>
                </a:solidFill>
                <a:effectLst/>
                <a:latin typeface="Verdana"/>
                <a:ea typeface="ＭＳ Ｐゴシック"/>
              </a:rPr>
              <a:t>Let’s start our </a:t>
            </a:r>
            <a:r>
              <a:rPr lang="en-US">
                <a:solidFill>
                  <a:srgbClr val="424242"/>
                </a:solidFill>
                <a:latin typeface="Verdana"/>
                <a:ea typeface="ＭＳ Ｐゴシック"/>
              </a:rPr>
              <a:t>discussion</a:t>
            </a:r>
            <a:r>
              <a:rPr lang="en-US" b="0" i="0">
                <a:solidFill>
                  <a:srgbClr val="424242"/>
                </a:solidFill>
                <a:effectLst/>
                <a:latin typeface="Verdana"/>
                <a:ea typeface="ＭＳ Ｐゴシック"/>
              </a:rPr>
              <a:t> </a:t>
            </a:r>
            <a:r>
              <a:rPr lang="en-US">
                <a:solidFill>
                  <a:srgbClr val="424242"/>
                </a:solidFill>
                <a:latin typeface="Verdana"/>
                <a:ea typeface="ＭＳ Ｐゴシック"/>
              </a:rPr>
              <a:t>by understanding</a:t>
            </a:r>
            <a:r>
              <a:rPr lang="en-US" b="0" i="0">
                <a:solidFill>
                  <a:srgbClr val="424242"/>
                </a:solidFill>
                <a:effectLst/>
                <a:latin typeface="Verdana"/>
                <a:ea typeface="ＭＳ Ｐゴシック"/>
              </a:rPr>
              <a:t> the definition of a network topology.</a:t>
            </a:r>
            <a:endParaRPr lang="en-US" sz="2000">
              <a:latin typeface="Verdana"/>
              <a:ea typeface="ＭＳ Ｐゴシック"/>
            </a:endParaRPr>
          </a:p>
          <a:p>
            <a:pPr marL="0" indent="0">
              <a:buNone/>
            </a:pPr>
            <a:r>
              <a:rPr lang="en-US" sz="2000">
                <a:latin typeface="+mj-lt"/>
              </a:rPr>
              <a:t>A network topology is the schematic arrangement of elements, such as links and nodes, which ultimately</a:t>
            </a:r>
            <a:r>
              <a:rPr lang="he-IL" sz="2000">
                <a:latin typeface="+mj-lt"/>
              </a:rPr>
              <a:t> </a:t>
            </a:r>
            <a:r>
              <a:rPr lang="en-US" sz="2000">
                <a:latin typeface="+mj-lt"/>
              </a:rPr>
              <a:t>constitutes the structure of the network.</a:t>
            </a:r>
          </a:p>
          <a:p>
            <a:pPr marL="0" indent="0">
              <a:buNone/>
            </a:pPr>
            <a:r>
              <a:rPr lang="en-US" b="0" i="0">
                <a:solidFill>
                  <a:srgbClr val="28375A"/>
                </a:solidFill>
                <a:effectLst/>
                <a:latin typeface="-apple-system"/>
              </a:rPr>
              <a:t>The physical topology describes how devices on the network are connected and the logical topology describes how data moves from one node to another. </a:t>
            </a:r>
            <a:endParaRPr lang="en-US" sz="2000" b="0" i="0">
              <a:solidFill>
                <a:srgbClr val="28375A"/>
              </a:solidFill>
              <a:effectLst/>
              <a:latin typeface="+mj-lt"/>
            </a:endParaRPr>
          </a:p>
          <a:p>
            <a:pPr marL="0" indent="0">
              <a:buNone/>
            </a:pPr>
            <a:endParaRPr lang="en-US" sz="2000" b="0" i="0">
              <a:solidFill>
                <a:srgbClr val="28375A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="0" i="0">
              <a:solidFill>
                <a:srgbClr val="000000"/>
              </a:solidFill>
              <a:effectLst/>
              <a:latin typeface="CiscoSansLight"/>
            </a:endParaRPr>
          </a:p>
          <a:p>
            <a:pPr algn="l"/>
            <a:endParaRPr lang="en-US" b="0" i="0">
              <a:solidFill>
                <a:srgbClr val="28375A"/>
              </a:solidFill>
              <a:effectLst/>
              <a:latin typeface="-apple-system"/>
            </a:endParaRPr>
          </a:p>
          <a:p>
            <a:pPr algn="l"/>
            <a:endParaRPr lang="en-US" b="0" i="0">
              <a:solidFill>
                <a:srgbClr val="28375A"/>
              </a:solidFill>
              <a:effectLst/>
              <a:latin typeface="-apple-system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60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7752"/>
            <a:ext cx="10515600" cy="838201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F4B3C8-1BB0-4553-892C-C0A9CA7092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036808"/>
            <a:ext cx="10515600" cy="46939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DIN Pro Regular" panose="020B0504020101020102" pitchFamily="34" charset="0"/>
                <a:cs typeface="DIN Pro Regular" panose="020B0504020101020102" pitchFamily="34" charset="0"/>
              </a:defRPr>
            </a:lvl1pPr>
            <a:lvl2pPr marL="457223" indent="0" algn="ctr">
              <a:buFontTx/>
              <a:buNone/>
              <a:defRPr sz="1467">
                <a:latin typeface="Trebuchet MS" panose="020B0603020202020204" pitchFamily="34" charset="0"/>
              </a:defRPr>
            </a:lvl2pPr>
            <a:lvl3pPr marL="914446" indent="0" algn="ctr">
              <a:buFontTx/>
              <a:buNone/>
              <a:defRPr sz="1467">
                <a:latin typeface="Trebuchet MS" panose="020B0603020202020204" pitchFamily="34" charset="0"/>
              </a:defRPr>
            </a:lvl3pPr>
            <a:lvl4pPr marL="1371669" indent="0" algn="ctr">
              <a:buFontTx/>
              <a:buNone/>
              <a:defRPr sz="1467">
                <a:latin typeface="Trebuchet MS" panose="020B0603020202020204" pitchFamily="34" charset="0"/>
              </a:defRPr>
            </a:lvl4pPr>
            <a:lvl5pPr marL="1828891" indent="0" algn="ctr">
              <a:buFontTx/>
              <a:buNone/>
              <a:defRPr sz="1467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524CF4-9B62-4122-9333-1892D5583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440"/>
            <a:ext cx="10515600" cy="4550664"/>
          </a:xfrm>
          <a:prstGeom prst="rect">
            <a:avLst/>
          </a:prstGeom>
        </p:spPr>
        <p:txBody>
          <a:bodyPr/>
          <a:lstStyle>
            <a:lvl1pPr marL="152408" indent="-152408">
              <a:buClr>
                <a:schemeClr val="accent4"/>
              </a:buClr>
              <a:buFont typeface="Wingdings" panose="05000000000000000000" pitchFamily="2" charset="2"/>
              <a:buChar char="§"/>
              <a:defRPr sz="1600">
                <a:solidFill>
                  <a:schemeClr val="bg1"/>
                </a:solidFill>
                <a:latin typeface="DIN Pro Regular" panose="020B0504020101020102" pitchFamily="34" charset="0"/>
                <a:cs typeface="DIN Pro Regular" panose="020B0504020101020102" pitchFamily="34" charset="0"/>
              </a:defRPr>
            </a:lvl1pPr>
            <a:lvl2pPr marL="457223" indent="-152408">
              <a:buClr>
                <a:schemeClr val="accent4"/>
              </a:buClr>
              <a:buFont typeface="Wingdings" panose="05000000000000000000" pitchFamily="2" charset="2"/>
              <a:buChar char="§"/>
              <a:defRPr sz="1467">
                <a:solidFill>
                  <a:schemeClr val="bg1"/>
                </a:solidFill>
                <a:latin typeface="DIN Pro Regular" panose="020B0504020101020102" pitchFamily="34" charset="0"/>
                <a:cs typeface="DIN Pro Regular" panose="020B0504020101020102" pitchFamily="34" charset="0"/>
              </a:defRPr>
            </a:lvl2pPr>
            <a:lvl3pPr marL="762038" indent="-152408">
              <a:buClr>
                <a:schemeClr val="accent4"/>
              </a:buClr>
              <a:buFont typeface="Wingdings" panose="05000000000000000000" pitchFamily="2" charset="2"/>
              <a:buChar char="§"/>
              <a:defRPr sz="1333">
                <a:solidFill>
                  <a:schemeClr val="bg1"/>
                </a:solidFill>
                <a:latin typeface="DIN Pro Regular" panose="020B0504020101020102" pitchFamily="34" charset="0"/>
                <a:cs typeface="DIN Pro Regular" panose="020B0504020101020102" pitchFamily="34" charset="0"/>
              </a:defRPr>
            </a:lvl3pPr>
            <a:lvl4pPr marL="1066853" indent="-152408">
              <a:buClr>
                <a:schemeClr val="accent4"/>
              </a:buClr>
              <a:buFont typeface="Wingdings" panose="05000000000000000000" pitchFamily="2" charset="2"/>
              <a:buChar char="§"/>
              <a:defRPr sz="1333">
                <a:solidFill>
                  <a:schemeClr val="bg1"/>
                </a:solidFill>
                <a:latin typeface="DIN Pro Regular" panose="020B0504020101020102" pitchFamily="34" charset="0"/>
                <a:cs typeface="DIN Pro Regular" panose="020B0504020101020102" pitchFamily="34" charset="0"/>
              </a:defRPr>
            </a:lvl4pPr>
            <a:lvl5pPr marL="1351560" indent="-132299">
              <a:buClr>
                <a:schemeClr val="accent4"/>
              </a:buClr>
              <a:buFont typeface="Wingdings" panose="05000000000000000000" pitchFamily="2" charset="2"/>
              <a:buChar char="§"/>
              <a:defRPr sz="1333">
                <a:solidFill>
                  <a:schemeClr val="bg1"/>
                </a:solidFill>
                <a:latin typeface="DIN Pro Regular" panose="020B0504020101020102" pitchFamily="34" charset="0"/>
                <a:cs typeface="DIN Pro Regular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939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microsoft.com/office/2018/10/relationships/comments" Target="../comments/modernComment_7FFD5308_2A11608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>
            <a:extLst>
              <a:ext uri="{FF2B5EF4-FFF2-40B4-BE49-F238E27FC236}">
                <a16:creationId xmlns:a16="http://schemas.microsoft.com/office/drawing/2014/main" id="{F8B1ECE0-D81D-43E5-916B-705D92C92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207754"/>
            <a:ext cx="8806091" cy="838201"/>
          </a:xfrm>
        </p:spPr>
        <p:txBody>
          <a:bodyPr/>
          <a:lstStyle/>
          <a:p>
            <a:r>
              <a:rPr lang="en-US"/>
              <a:t>Network Topology</a:t>
            </a:r>
          </a:p>
        </p:txBody>
      </p:sp>
      <p:sp>
        <p:nvSpPr>
          <p:cNvPr id="116" name="Content Placeholder 3">
            <a:extLst>
              <a:ext uri="{FF2B5EF4-FFF2-40B4-BE49-F238E27FC236}">
                <a16:creationId xmlns:a16="http://schemas.microsoft.com/office/drawing/2014/main" id="{D8562F8B-9343-490A-862F-98A16129A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440"/>
            <a:ext cx="10134601" cy="1178154"/>
          </a:xfrm>
        </p:spPr>
        <p:txBody>
          <a:bodyPr/>
          <a:lstStyle/>
          <a:p>
            <a:pPr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</a:rPr>
              <a:t>A network topology is the schematic arrangement of network elements, such as links and nodes.</a:t>
            </a:r>
          </a:p>
          <a:p>
            <a:pPr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</a:rPr>
              <a:t>The physical topology describes how devices on the network are connected.</a:t>
            </a:r>
          </a:p>
          <a:p>
            <a:pPr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</a:rPr>
              <a:t>The logical topology describes how data moves from one node to another. 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746199-7F6C-4C45-A0CC-565041FA0D0D}"/>
              </a:ext>
            </a:extLst>
          </p:cNvPr>
          <p:cNvSpPr/>
          <p:nvPr/>
        </p:nvSpPr>
        <p:spPr>
          <a:xfrm>
            <a:off x="4101389" y="2956098"/>
            <a:ext cx="3989223" cy="34478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5AFDB8A-3B01-4559-B834-2EA05FC858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87119" y="3261580"/>
            <a:ext cx="564883" cy="56488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0656D87-510A-42DD-95A9-FEA7A32709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2236" y="4286708"/>
            <a:ext cx="564883" cy="564882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E4F40E7-4396-4871-8A10-615FF9BAF5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2001" y="4286708"/>
            <a:ext cx="564883" cy="56488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E37402DA-57EA-4E04-A33A-A15EC2B357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3942" y="5311836"/>
            <a:ext cx="465580" cy="779845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A83C022-F0E2-429C-9EC4-099B6BA348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16825" y="5311836"/>
            <a:ext cx="465580" cy="779845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0BCBF67-13E1-4656-B80D-6CEBDE6B22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0379" y="5311836"/>
            <a:ext cx="465580" cy="77984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397CDE2-D317-4591-ACAD-FB1876BA48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49620" y="5311836"/>
            <a:ext cx="465580" cy="779845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F3B74F-97EE-4DA9-A87E-E2D9ACC1E9A9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5504677" y="3826462"/>
            <a:ext cx="564883" cy="46024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E4CA41E-A068-45A2-A0CC-E2A8C2E4CF43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6069560" y="3826462"/>
            <a:ext cx="564883" cy="46024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81FD111-D815-4C61-A5A5-3E26D509BACC}"/>
              </a:ext>
            </a:extLst>
          </p:cNvPr>
          <p:cNvCxnSpPr>
            <a:cxnSpLocks/>
            <a:stCxn id="18" idx="0"/>
            <a:endCxn id="15" idx="2"/>
          </p:cNvCxnSpPr>
          <p:nvPr/>
        </p:nvCxnSpPr>
        <p:spPr>
          <a:xfrm flipV="1">
            <a:off x="5086732" y="4851590"/>
            <a:ext cx="417945" cy="46024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E65E960-840C-4C5B-8CA6-93EB91FAAE10}"/>
              </a:ext>
            </a:extLst>
          </p:cNvPr>
          <p:cNvCxnSpPr>
            <a:cxnSpLocks/>
            <a:stCxn id="19" idx="0"/>
            <a:endCxn id="15" idx="2"/>
          </p:cNvCxnSpPr>
          <p:nvPr/>
        </p:nvCxnSpPr>
        <p:spPr>
          <a:xfrm flipH="1" flipV="1">
            <a:off x="5504678" y="4851590"/>
            <a:ext cx="244938" cy="46024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22E1B5A-DF19-4794-B23A-D14377A37F2C}"/>
              </a:ext>
            </a:extLst>
          </p:cNvPr>
          <p:cNvCxnSpPr>
            <a:cxnSpLocks/>
            <a:stCxn id="20" idx="0"/>
            <a:endCxn id="16" idx="2"/>
          </p:cNvCxnSpPr>
          <p:nvPr/>
        </p:nvCxnSpPr>
        <p:spPr>
          <a:xfrm flipV="1">
            <a:off x="6413170" y="4851590"/>
            <a:ext cx="221273" cy="46024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839A17D-BFFB-4B00-A226-E8A2184E1B98}"/>
              </a:ext>
            </a:extLst>
          </p:cNvPr>
          <p:cNvCxnSpPr>
            <a:cxnSpLocks/>
            <a:stCxn id="21" idx="0"/>
            <a:endCxn id="16" idx="2"/>
          </p:cNvCxnSpPr>
          <p:nvPr/>
        </p:nvCxnSpPr>
        <p:spPr>
          <a:xfrm flipH="1" flipV="1">
            <a:off x="6634443" y="4851590"/>
            <a:ext cx="447967" cy="46024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F717A1B-191A-4AC0-91D5-5615006C6E0D}"/>
              </a:ext>
            </a:extLst>
          </p:cNvPr>
          <p:cNvGrpSpPr/>
          <p:nvPr/>
        </p:nvGrpSpPr>
        <p:grpSpPr>
          <a:xfrm>
            <a:off x="4668787" y="5535981"/>
            <a:ext cx="472211" cy="331555"/>
            <a:chOff x="2075842" y="7320569"/>
            <a:chExt cx="723900" cy="514350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356DC08-1564-44CC-8C47-535D9CEBA13F}"/>
                </a:ext>
              </a:extLst>
            </p:cNvPr>
            <p:cNvSpPr/>
            <p:nvPr/>
          </p:nvSpPr>
          <p:spPr>
            <a:xfrm>
              <a:off x="2075842" y="7320569"/>
              <a:ext cx="723900" cy="5143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2667" dirty="0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22" name="Graphic 77" descr="Envelope outline">
              <a:extLst>
                <a:ext uri="{FF2B5EF4-FFF2-40B4-BE49-F238E27FC236}">
                  <a16:creationId xmlns:a16="http://schemas.microsoft.com/office/drawing/2014/main" id="{96BC3DAC-7741-42E3-B93B-83E3A867BC65}"/>
                </a:ext>
              </a:extLst>
            </p:cNvPr>
            <p:cNvSpPr/>
            <p:nvPr/>
          </p:nvSpPr>
          <p:spPr>
            <a:xfrm>
              <a:off x="2075842" y="7320569"/>
              <a:ext cx="723900" cy="514350"/>
            </a:xfrm>
            <a:custGeom>
              <a:avLst/>
              <a:gdLst>
                <a:gd name="connsiteX0" fmla="*/ 0 w 723900"/>
                <a:gd name="connsiteY0" fmla="*/ 0 h 514350"/>
                <a:gd name="connsiteX1" fmla="*/ 0 w 723900"/>
                <a:gd name="connsiteY1" fmla="*/ 514350 h 514350"/>
                <a:gd name="connsiteX2" fmla="*/ 723900 w 723900"/>
                <a:gd name="connsiteY2" fmla="*/ 514350 h 514350"/>
                <a:gd name="connsiteX3" fmla="*/ 723900 w 723900"/>
                <a:gd name="connsiteY3" fmla="*/ 0 h 514350"/>
                <a:gd name="connsiteX4" fmla="*/ 382162 w 723900"/>
                <a:gd name="connsiteY4" fmla="*/ 328270 h 514350"/>
                <a:gd name="connsiteX5" fmla="*/ 341738 w 723900"/>
                <a:gd name="connsiteY5" fmla="*/ 328270 h 514350"/>
                <a:gd name="connsiteX6" fmla="*/ 32680 w 723900"/>
                <a:gd name="connsiteY6" fmla="*/ 19212 h 514350"/>
                <a:gd name="connsiteX7" fmla="*/ 32681 w 723900"/>
                <a:gd name="connsiteY7" fmla="*/ 19078 h 514350"/>
                <a:gd name="connsiteX8" fmla="*/ 32747 w 723900"/>
                <a:gd name="connsiteY8" fmla="*/ 19050 h 514350"/>
                <a:gd name="connsiteX9" fmla="*/ 691153 w 723900"/>
                <a:gd name="connsiteY9" fmla="*/ 19050 h 514350"/>
                <a:gd name="connsiteX10" fmla="*/ 691247 w 723900"/>
                <a:gd name="connsiteY10" fmla="*/ 19146 h 514350"/>
                <a:gd name="connsiteX11" fmla="*/ 691220 w 723900"/>
                <a:gd name="connsiteY11" fmla="*/ 19212 h 514350"/>
                <a:gd name="connsiteX12" fmla="*/ 243707 w 723900"/>
                <a:gd name="connsiteY12" fmla="*/ 257175 h 514350"/>
                <a:gd name="connsiteX13" fmla="*/ 19212 w 723900"/>
                <a:gd name="connsiteY13" fmla="*/ 481670 h 514350"/>
                <a:gd name="connsiteX14" fmla="*/ 19078 w 723900"/>
                <a:gd name="connsiteY14" fmla="*/ 481669 h 514350"/>
                <a:gd name="connsiteX15" fmla="*/ 19050 w 723900"/>
                <a:gd name="connsiteY15" fmla="*/ 481603 h 514350"/>
                <a:gd name="connsiteX16" fmla="*/ 19050 w 723900"/>
                <a:gd name="connsiteY16" fmla="*/ 32747 h 514350"/>
                <a:gd name="connsiteX17" fmla="*/ 19146 w 723900"/>
                <a:gd name="connsiteY17" fmla="*/ 32653 h 514350"/>
                <a:gd name="connsiteX18" fmla="*/ 19212 w 723900"/>
                <a:gd name="connsiteY18" fmla="*/ 32680 h 514350"/>
                <a:gd name="connsiteX19" fmla="*/ 257175 w 723900"/>
                <a:gd name="connsiteY19" fmla="*/ 270643 h 514350"/>
                <a:gd name="connsiteX20" fmla="*/ 328270 w 723900"/>
                <a:gd name="connsiteY20" fmla="*/ 341738 h 514350"/>
                <a:gd name="connsiteX21" fmla="*/ 395622 w 723900"/>
                <a:gd name="connsiteY21" fmla="*/ 341747 h 514350"/>
                <a:gd name="connsiteX22" fmla="*/ 395630 w 723900"/>
                <a:gd name="connsiteY22" fmla="*/ 341738 h 514350"/>
                <a:gd name="connsiteX23" fmla="*/ 466725 w 723900"/>
                <a:gd name="connsiteY23" fmla="*/ 270643 h 514350"/>
                <a:gd name="connsiteX24" fmla="*/ 691220 w 723900"/>
                <a:gd name="connsiteY24" fmla="*/ 495138 h 514350"/>
                <a:gd name="connsiteX25" fmla="*/ 691219 w 723900"/>
                <a:gd name="connsiteY25" fmla="*/ 495272 h 514350"/>
                <a:gd name="connsiteX26" fmla="*/ 691153 w 723900"/>
                <a:gd name="connsiteY26" fmla="*/ 495300 h 514350"/>
                <a:gd name="connsiteX27" fmla="*/ 32747 w 723900"/>
                <a:gd name="connsiteY27" fmla="*/ 495300 h 514350"/>
                <a:gd name="connsiteX28" fmla="*/ 32653 w 723900"/>
                <a:gd name="connsiteY28" fmla="*/ 495204 h 514350"/>
                <a:gd name="connsiteX29" fmla="*/ 32680 w 723900"/>
                <a:gd name="connsiteY29" fmla="*/ 495138 h 514350"/>
                <a:gd name="connsiteX30" fmla="*/ 480193 w 723900"/>
                <a:gd name="connsiteY30" fmla="*/ 257175 h 514350"/>
                <a:gd name="connsiteX31" fmla="*/ 704688 w 723900"/>
                <a:gd name="connsiteY31" fmla="*/ 32680 h 514350"/>
                <a:gd name="connsiteX32" fmla="*/ 704822 w 723900"/>
                <a:gd name="connsiteY32" fmla="*/ 32681 h 514350"/>
                <a:gd name="connsiteX33" fmla="*/ 704850 w 723900"/>
                <a:gd name="connsiteY33" fmla="*/ 32747 h 514350"/>
                <a:gd name="connsiteX34" fmla="*/ 704850 w 723900"/>
                <a:gd name="connsiteY34" fmla="*/ 481603 h 514350"/>
                <a:gd name="connsiteX35" fmla="*/ 704754 w 723900"/>
                <a:gd name="connsiteY35" fmla="*/ 481697 h 514350"/>
                <a:gd name="connsiteX36" fmla="*/ 704688 w 723900"/>
                <a:gd name="connsiteY36" fmla="*/ 481670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23900" h="514350">
                  <a:moveTo>
                    <a:pt x="0" y="0"/>
                  </a:moveTo>
                  <a:lnTo>
                    <a:pt x="0" y="514350"/>
                  </a:lnTo>
                  <a:lnTo>
                    <a:pt x="723900" y="514350"/>
                  </a:lnTo>
                  <a:lnTo>
                    <a:pt x="723900" y="0"/>
                  </a:lnTo>
                  <a:close/>
                  <a:moveTo>
                    <a:pt x="382162" y="328270"/>
                  </a:moveTo>
                  <a:cubicBezTo>
                    <a:pt x="370980" y="339385"/>
                    <a:pt x="352920" y="339385"/>
                    <a:pt x="341738" y="328270"/>
                  </a:cubicBezTo>
                  <a:lnTo>
                    <a:pt x="32680" y="19212"/>
                  </a:lnTo>
                  <a:cubicBezTo>
                    <a:pt x="32643" y="19175"/>
                    <a:pt x="32644" y="19114"/>
                    <a:pt x="32681" y="19078"/>
                  </a:cubicBezTo>
                  <a:cubicBezTo>
                    <a:pt x="32699" y="19060"/>
                    <a:pt x="32722" y="19050"/>
                    <a:pt x="32747" y="19050"/>
                  </a:cubicBezTo>
                  <a:lnTo>
                    <a:pt x="691153" y="19050"/>
                  </a:lnTo>
                  <a:cubicBezTo>
                    <a:pt x="691205" y="19051"/>
                    <a:pt x="691247" y="19094"/>
                    <a:pt x="691247" y="19146"/>
                  </a:cubicBezTo>
                  <a:cubicBezTo>
                    <a:pt x="691246" y="19171"/>
                    <a:pt x="691237" y="19195"/>
                    <a:pt x="691220" y="19212"/>
                  </a:cubicBezTo>
                  <a:close/>
                  <a:moveTo>
                    <a:pt x="243707" y="257175"/>
                  </a:moveTo>
                  <a:lnTo>
                    <a:pt x="19212" y="481670"/>
                  </a:lnTo>
                  <a:cubicBezTo>
                    <a:pt x="19175" y="481707"/>
                    <a:pt x="19114" y="481706"/>
                    <a:pt x="19078" y="481669"/>
                  </a:cubicBezTo>
                  <a:cubicBezTo>
                    <a:pt x="19060" y="481651"/>
                    <a:pt x="19050" y="481628"/>
                    <a:pt x="19050" y="481603"/>
                  </a:cubicBezTo>
                  <a:lnTo>
                    <a:pt x="19050" y="32747"/>
                  </a:lnTo>
                  <a:cubicBezTo>
                    <a:pt x="19051" y="32695"/>
                    <a:pt x="19094" y="32653"/>
                    <a:pt x="19146" y="32653"/>
                  </a:cubicBezTo>
                  <a:cubicBezTo>
                    <a:pt x="19171" y="32654"/>
                    <a:pt x="19195" y="32663"/>
                    <a:pt x="19212" y="32680"/>
                  </a:cubicBezTo>
                  <a:close/>
                  <a:moveTo>
                    <a:pt x="257175" y="270643"/>
                  </a:moveTo>
                  <a:lnTo>
                    <a:pt x="328270" y="341738"/>
                  </a:lnTo>
                  <a:cubicBezTo>
                    <a:pt x="346866" y="360339"/>
                    <a:pt x="377020" y="360343"/>
                    <a:pt x="395622" y="341747"/>
                  </a:cubicBezTo>
                  <a:cubicBezTo>
                    <a:pt x="395625" y="341744"/>
                    <a:pt x="395628" y="341741"/>
                    <a:pt x="395630" y="341738"/>
                  </a:cubicBezTo>
                  <a:lnTo>
                    <a:pt x="466725" y="270643"/>
                  </a:lnTo>
                  <a:lnTo>
                    <a:pt x="691220" y="495138"/>
                  </a:lnTo>
                  <a:cubicBezTo>
                    <a:pt x="691257" y="495175"/>
                    <a:pt x="691256" y="495236"/>
                    <a:pt x="691219" y="495272"/>
                  </a:cubicBezTo>
                  <a:cubicBezTo>
                    <a:pt x="691201" y="495290"/>
                    <a:pt x="691178" y="495300"/>
                    <a:pt x="691153" y="495300"/>
                  </a:cubicBezTo>
                  <a:lnTo>
                    <a:pt x="32747" y="495300"/>
                  </a:lnTo>
                  <a:cubicBezTo>
                    <a:pt x="32695" y="495299"/>
                    <a:pt x="32653" y="495256"/>
                    <a:pt x="32653" y="495204"/>
                  </a:cubicBezTo>
                  <a:cubicBezTo>
                    <a:pt x="32654" y="495179"/>
                    <a:pt x="32663" y="495155"/>
                    <a:pt x="32680" y="495138"/>
                  </a:cubicBezTo>
                  <a:close/>
                  <a:moveTo>
                    <a:pt x="480193" y="257175"/>
                  </a:moveTo>
                  <a:lnTo>
                    <a:pt x="704688" y="32680"/>
                  </a:lnTo>
                  <a:cubicBezTo>
                    <a:pt x="704725" y="32643"/>
                    <a:pt x="704786" y="32644"/>
                    <a:pt x="704822" y="32681"/>
                  </a:cubicBezTo>
                  <a:cubicBezTo>
                    <a:pt x="704840" y="32699"/>
                    <a:pt x="704850" y="32722"/>
                    <a:pt x="704850" y="32747"/>
                  </a:cubicBezTo>
                  <a:lnTo>
                    <a:pt x="704850" y="481603"/>
                  </a:lnTo>
                  <a:cubicBezTo>
                    <a:pt x="704849" y="481655"/>
                    <a:pt x="704806" y="481697"/>
                    <a:pt x="704754" y="481697"/>
                  </a:cubicBezTo>
                  <a:cubicBezTo>
                    <a:pt x="704729" y="481696"/>
                    <a:pt x="704705" y="481687"/>
                    <a:pt x="704688" y="48167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7057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6950BFC3-D8DA-4A85-94F7-54DA5524770B}">
      <p188:commentRel xmlns:p188="http://schemas.microsoft.com/office/powerpoint/2018/8/main" r:id="rId4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0058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76B900"/>
                </a:solidFill>
                <a:latin typeface="Arial"/>
              </a:rPr>
              <a:t>NVIDIA ACADEMY · VISUAL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Arial"/>
              </a:rPr>
              <a:t>Topology Sample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4B4B4B"/>
                </a:solidFill>
                <a:latin typeface="Arial"/>
              </a:rPr>
              <a:t>Reference shapes, icons, and connection styles for InfiniBand topology diagrams.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949440" y="4005072"/>
            <a:ext cx="365760" cy="1133855"/>
          </a:xfrm>
          <a:prstGeom prst="line">
            <a:avLst/>
          </a:prstGeom>
          <a:ln w="10160">
            <a:solidFill>
              <a:srgbClr val="C4C4C4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7315200" y="4005072"/>
            <a:ext cx="640079" cy="1133855"/>
          </a:xfrm>
          <a:prstGeom prst="line">
            <a:avLst/>
          </a:prstGeom>
          <a:ln w="10160">
            <a:solidFill>
              <a:srgbClr val="C4C4C4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7315200" y="4005072"/>
            <a:ext cx="1645920" cy="1133855"/>
          </a:xfrm>
          <a:prstGeom prst="line">
            <a:avLst/>
          </a:prstGeom>
          <a:ln w="10160">
            <a:solidFill>
              <a:srgbClr val="C4C4C4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7315200" y="4005072"/>
            <a:ext cx="2651759" cy="1133855"/>
          </a:xfrm>
          <a:prstGeom prst="line">
            <a:avLst/>
          </a:prstGeom>
          <a:ln w="10160">
            <a:solidFill>
              <a:srgbClr val="C4C4C4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H="1">
            <a:off x="6949440" y="4005072"/>
            <a:ext cx="1463040" cy="1133855"/>
          </a:xfrm>
          <a:prstGeom prst="line">
            <a:avLst/>
          </a:prstGeom>
          <a:ln w="10160">
            <a:solidFill>
              <a:srgbClr val="C4C4C4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H="1">
            <a:off x="7955279" y="4005072"/>
            <a:ext cx="457201" cy="1133855"/>
          </a:xfrm>
          <a:prstGeom prst="line">
            <a:avLst/>
          </a:prstGeom>
          <a:ln w="10160">
            <a:solidFill>
              <a:srgbClr val="C4C4C4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8412480" y="4005072"/>
            <a:ext cx="548640" cy="1133855"/>
          </a:xfrm>
          <a:prstGeom prst="line">
            <a:avLst/>
          </a:prstGeom>
          <a:ln w="10160">
            <a:solidFill>
              <a:srgbClr val="C4C4C4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8412480" y="4005072"/>
            <a:ext cx="1554479" cy="1133855"/>
          </a:xfrm>
          <a:prstGeom prst="line">
            <a:avLst/>
          </a:prstGeom>
          <a:ln w="10160">
            <a:solidFill>
              <a:srgbClr val="C4C4C4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H="1">
            <a:off x="6949440" y="4005072"/>
            <a:ext cx="2560319" cy="1133855"/>
          </a:xfrm>
          <a:prstGeom prst="line">
            <a:avLst/>
          </a:prstGeom>
          <a:ln w="10160">
            <a:solidFill>
              <a:srgbClr val="C4C4C4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H="1">
            <a:off x="7955279" y="4005072"/>
            <a:ext cx="1554480" cy="1133855"/>
          </a:xfrm>
          <a:prstGeom prst="line">
            <a:avLst/>
          </a:prstGeom>
          <a:ln w="10160">
            <a:solidFill>
              <a:srgbClr val="C4C4C4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H="1">
            <a:off x="8961120" y="4005072"/>
            <a:ext cx="548639" cy="1133855"/>
          </a:xfrm>
          <a:prstGeom prst="line">
            <a:avLst/>
          </a:prstGeom>
          <a:ln w="10160">
            <a:solidFill>
              <a:srgbClr val="C4C4C4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9509759" y="4005072"/>
            <a:ext cx="457200" cy="1133855"/>
          </a:xfrm>
          <a:prstGeom prst="line">
            <a:avLst/>
          </a:prstGeom>
          <a:ln w="10160">
            <a:solidFill>
              <a:srgbClr val="C4C4C4"/>
            </a:solidFill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6949440" y="580644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757575"/>
                </a:solidFill>
                <a:latin typeface="Arial"/>
              </a:rPr>
              <a:t>Sample · 3 spines / 4 leaves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3840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57575"/>
                </a:solidFill>
                <a:latin typeface="Arial"/>
              </a:rPr>
              <a:t>INSIDE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4160520"/>
            <a:ext cx="6400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Arial"/>
              </a:rPr>
              <a:t>·  Canonical 13-icon set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544568"/>
            <a:ext cx="6400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Arial"/>
              </a:rPr>
              <a:t>·  Connection styles &amp; colors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4928616"/>
            <a:ext cx="6400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Arial"/>
              </a:rPr>
              <a:t>·  Leaf-Spine · Fat-tree · Dragonfly+ · Torus 3D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312664"/>
            <a:ext cx="454913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Arial"/>
              </a:rPr>
              <a:t>·  How to use this library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Arial"/>
              </a:rPr>
              <a:t>v0.1 · June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63550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757575"/>
                </a:solidFill>
                <a:latin typeface="Arial"/>
              </a:rPr>
              <a:t>academy-design@nvidia.com</a:t>
            </a:r>
          </a:p>
        </p:txBody>
      </p:sp>
      <p:pic>
        <p:nvPicPr>
          <p:cNvPr id="60" name="Graphic 59">
            <a:extLst>
              <a:ext uri="{FF2B5EF4-FFF2-40B4-BE49-F238E27FC236}">
                <a16:creationId xmlns:a16="http://schemas.microsoft.com/office/drawing/2014/main" id="{02B0A4C1-7EF9-B110-D7EE-21278C307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8007" y="3554970"/>
            <a:ext cx="457201" cy="45720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84521726-3D5C-13C4-9198-BF44AB3F3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3852" y="3551421"/>
            <a:ext cx="457201" cy="45720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072140BB-CF0A-E80C-3777-23ED78EFF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59697" y="3547872"/>
            <a:ext cx="457201" cy="45720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9C5ACBAA-744E-1D74-8907-5FCEC415A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0867" y="5129784"/>
            <a:ext cx="457201" cy="457200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4963E0E6-AFAC-AD8E-0CBB-E109BF6E2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36651" y="5129783"/>
            <a:ext cx="457201" cy="45720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ABC78E0B-857B-2527-0FA8-9CF7395C8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2435" y="5129782"/>
            <a:ext cx="457201" cy="457200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A58429A8-BD56-D8A4-FFC3-F55C799F3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8219" y="5129781"/>
            <a:ext cx="457201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6B900"/>
                </a:solidFill>
                <a:latin typeface="Arial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Arial"/>
              </a:rPr>
              <a:t>Canonical Icon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3602"/>
            <a:ext cx="6866573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Arial"/>
              </a:rPr>
              <a:t>Thirteen icons cover every InfiniBand topology diagram in the Academy curriculum.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NVIDIA Academy · Visual Foundations · Topology Sample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v0.1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863" y="1920240"/>
            <a:ext cx="15179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4583" y="3337560"/>
            <a:ext cx="1426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Switch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18207" y="1920240"/>
            <a:ext cx="15179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63927" y="3337560"/>
            <a:ext cx="1426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Switch + SM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27551" y="1920240"/>
            <a:ext cx="15179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040733" y="2183130"/>
            <a:ext cx="891540" cy="8915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 flipV="1">
            <a:off x="4486503" y="2290114"/>
            <a:ext cx="0" cy="249632"/>
          </a:xfrm>
          <a:prstGeom prst="line">
            <a:avLst/>
          </a:prstGeom>
          <a:ln w="15240">
            <a:solidFill>
              <a:srgbClr val="1A1A1A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4486503" y="2718054"/>
            <a:ext cx="0" cy="249631"/>
          </a:xfrm>
          <a:prstGeom prst="line">
            <a:avLst/>
          </a:prstGeom>
          <a:ln w="15240">
            <a:solidFill>
              <a:srgbClr val="1A1A1A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H="1">
            <a:off x="4147718" y="2628900"/>
            <a:ext cx="249631" cy="0"/>
          </a:xfrm>
          <a:prstGeom prst="line">
            <a:avLst/>
          </a:prstGeom>
          <a:ln w="15240">
            <a:solidFill>
              <a:srgbClr val="1A1A1A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4575657" y="2628900"/>
            <a:ext cx="249631" cy="0"/>
          </a:xfrm>
          <a:prstGeom prst="line">
            <a:avLst/>
          </a:prstGeom>
          <a:ln w="15240">
            <a:solidFill>
              <a:srgbClr val="1A1A1A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3773271" y="3337560"/>
            <a:ext cx="1426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Router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36895" y="1920240"/>
            <a:ext cx="15179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50077" y="2331720"/>
            <a:ext cx="891540" cy="588416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50102" y="2926080"/>
            <a:ext cx="45720" cy="914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72987" y="2926080"/>
            <a:ext cx="45720" cy="914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95872" y="2926080"/>
            <a:ext cx="45720" cy="914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50077" y="2368296"/>
            <a:ext cx="8915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Arial"/>
              </a:rPr>
              <a:t>HCA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82615" y="3337560"/>
            <a:ext cx="1426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HCA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6239" y="1920240"/>
            <a:ext cx="15179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91959" y="3337560"/>
            <a:ext cx="1426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Network cloud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55583" y="1920240"/>
            <a:ext cx="15179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01303" y="3337560"/>
            <a:ext cx="1426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Storage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64927" y="1920240"/>
            <a:ext cx="15179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210647" y="3337560"/>
            <a:ext cx="1426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Fabric Admin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8863" y="3840480"/>
            <a:ext cx="15179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22045" y="4103370"/>
            <a:ext cx="891540" cy="891540"/>
          </a:xfrm>
          <a:prstGeom prst="rect">
            <a:avLst/>
          </a:prstGeom>
          <a:solidFill>
            <a:srgbClr val="004831"/>
          </a:solidFill>
          <a:ln w="12700">
            <a:solidFill>
              <a:srgbClr val="00483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2045" y="4176522"/>
            <a:ext cx="891540" cy="891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UFM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045" y="4530852"/>
            <a:ext cx="8915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76B900"/>
                </a:solidFill>
                <a:latin typeface="Arial"/>
              </a:rPr>
              <a:t>SM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4583" y="5257800"/>
            <a:ext cx="1426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UFM + SM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18207" y="3840480"/>
            <a:ext cx="15179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163927" y="5257800"/>
            <a:ext cx="1426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Server + SM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27551" y="3840480"/>
            <a:ext cx="15179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773271" y="5257800"/>
            <a:ext cx="1426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Server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336895" y="3840480"/>
            <a:ext cx="15179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650077" y="4103370"/>
            <a:ext cx="891540" cy="8915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4" name="Connector 93"/>
          <p:cNvCxnSpPr/>
          <p:nvPr/>
        </p:nvCxnSpPr>
        <p:spPr>
          <a:xfrm>
            <a:off x="5828385" y="4415408"/>
            <a:ext cx="534924" cy="0"/>
          </a:xfrm>
          <a:prstGeom prst="line">
            <a:avLst/>
          </a:prstGeom>
          <a:ln w="19050">
            <a:solidFill>
              <a:srgbClr val="76B900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 flipH="1">
            <a:off x="5828385" y="4682871"/>
            <a:ext cx="534924" cy="0"/>
          </a:xfrm>
          <a:prstGeom prst="line">
            <a:avLst/>
          </a:prstGeom>
          <a:ln w="19050">
            <a:solidFill>
              <a:srgbClr val="0071C5"/>
            </a:solidFill>
          </a:ln>
          <a:effectLst/>
        </p:spPr>
      </p:cxnSp>
      <p:sp>
        <p:nvSpPr>
          <p:cNvPr id="96" name="TextBox 95"/>
          <p:cNvSpPr txBox="1"/>
          <p:nvPr/>
        </p:nvSpPr>
        <p:spPr>
          <a:xfrm>
            <a:off x="5650077" y="4727448"/>
            <a:ext cx="8915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Arial"/>
              </a:rPr>
              <a:t>GW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82615" y="5257800"/>
            <a:ext cx="1426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dirty="0">
                <a:solidFill>
                  <a:srgbClr val="1A1A1A"/>
                </a:solidFill>
                <a:latin typeface="Arial"/>
              </a:rPr>
              <a:t>Gateway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46239" y="3840480"/>
            <a:ext cx="15179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991959" y="5257800"/>
            <a:ext cx="1426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Monitoring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555583" y="3840480"/>
            <a:ext cx="15179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601303" y="5257800"/>
            <a:ext cx="1426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Switch (3D)</a:t>
            </a:r>
          </a:p>
        </p:txBody>
      </p:sp>
      <p:pic>
        <p:nvPicPr>
          <p:cNvPr id="112" name="Graphic 111">
            <a:extLst>
              <a:ext uri="{FF2B5EF4-FFF2-40B4-BE49-F238E27FC236}">
                <a16:creationId xmlns:a16="http://schemas.microsoft.com/office/drawing/2014/main" id="{0C0DBE13-537E-6FCD-AD69-66FB0497F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537" y="2230116"/>
            <a:ext cx="762346" cy="762345"/>
          </a:xfrm>
          <a:prstGeom prst="rect">
            <a:avLst/>
          </a:prstGeom>
        </p:spPr>
      </p:pic>
      <p:pic>
        <p:nvPicPr>
          <p:cNvPr id="113" name="Graphic 112">
            <a:extLst>
              <a:ext uri="{FF2B5EF4-FFF2-40B4-BE49-F238E27FC236}">
                <a16:creationId xmlns:a16="http://schemas.microsoft.com/office/drawing/2014/main" id="{33FD679C-4CB4-46FB-9F70-650C38C57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95985" y="2232355"/>
            <a:ext cx="762346" cy="762345"/>
          </a:xfrm>
          <a:prstGeom prst="rect">
            <a:avLst/>
          </a:prstGeom>
        </p:spPr>
      </p:pic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1A40AA9-D9FC-F419-C73D-998688F10597}"/>
              </a:ext>
            </a:extLst>
          </p:cNvPr>
          <p:cNvGrpSpPr/>
          <p:nvPr/>
        </p:nvGrpSpPr>
        <p:grpSpPr>
          <a:xfrm>
            <a:off x="3194913" y="2128266"/>
            <a:ext cx="182880" cy="182880"/>
            <a:chOff x="3194913" y="2128266"/>
            <a:chExt cx="182880" cy="182880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3A62CF53-1699-82AC-7460-F3132706598B}"/>
                </a:ext>
              </a:extLst>
            </p:cNvPr>
            <p:cNvSpPr/>
            <p:nvPr/>
          </p:nvSpPr>
          <p:spPr>
            <a:xfrm>
              <a:off x="3194913" y="2128266"/>
              <a:ext cx="182880" cy="182880"/>
            </a:xfrm>
            <a:prstGeom prst="ellipse">
              <a:avLst/>
            </a:prstGeom>
            <a:solidFill>
              <a:srgbClr val="76B9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EDAD701-AABB-BC39-A6AB-968B0B096DC8}"/>
                </a:ext>
              </a:extLst>
            </p:cNvPr>
            <p:cNvSpPr txBox="1"/>
            <p:nvPr/>
          </p:nvSpPr>
          <p:spPr>
            <a:xfrm>
              <a:off x="3194913" y="2137410"/>
              <a:ext cx="182880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700" b="1" dirty="0">
                  <a:solidFill>
                    <a:srgbClr val="FFFFFF"/>
                  </a:solidFill>
                  <a:latin typeface="Arial"/>
                </a:rPr>
                <a:t>SM</a:t>
              </a:r>
            </a:p>
          </p:txBody>
        </p:sp>
      </p:grpSp>
      <p:pic>
        <p:nvPicPr>
          <p:cNvPr id="117" name="Graphic 116">
            <a:extLst>
              <a:ext uri="{FF2B5EF4-FFF2-40B4-BE49-F238E27FC236}">
                <a16:creationId xmlns:a16="http://schemas.microsoft.com/office/drawing/2014/main" id="{AB292CB9-E277-D755-2787-03C6F14631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0114" y="4035941"/>
            <a:ext cx="612776" cy="1026398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15DDAE92-2BD2-A114-9304-56663242AD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0770" y="4077089"/>
            <a:ext cx="612776" cy="1026398"/>
          </a:xfrm>
          <a:prstGeom prst="rect">
            <a:avLst/>
          </a:prstGeom>
        </p:spPr>
      </p:pic>
      <p:grpSp>
        <p:nvGrpSpPr>
          <p:cNvPr id="119" name="Group 118">
            <a:extLst>
              <a:ext uri="{FF2B5EF4-FFF2-40B4-BE49-F238E27FC236}">
                <a16:creationId xmlns:a16="http://schemas.microsoft.com/office/drawing/2014/main" id="{BD44FE88-4761-C3D0-122D-7EB0C221AA87}"/>
              </a:ext>
            </a:extLst>
          </p:cNvPr>
          <p:cNvGrpSpPr/>
          <p:nvPr/>
        </p:nvGrpSpPr>
        <p:grpSpPr>
          <a:xfrm>
            <a:off x="3075451" y="3988892"/>
            <a:ext cx="182880" cy="182880"/>
            <a:chOff x="3194913" y="2128266"/>
            <a:chExt cx="182880" cy="182880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909868A9-9FFC-5BE3-BAC3-4074402C4C5B}"/>
                </a:ext>
              </a:extLst>
            </p:cNvPr>
            <p:cNvSpPr/>
            <p:nvPr/>
          </p:nvSpPr>
          <p:spPr>
            <a:xfrm>
              <a:off x="3194913" y="2128266"/>
              <a:ext cx="182880" cy="182880"/>
            </a:xfrm>
            <a:prstGeom prst="ellipse">
              <a:avLst/>
            </a:prstGeom>
            <a:solidFill>
              <a:srgbClr val="76B9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2EFC5FB-3FA7-AEE0-CDCC-3246AFE2EB3C}"/>
                </a:ext>
              </a:extLst>
            </p:cNvPr>
            <p:cNvSpPr txBox="1"/>
            <p:nvPr/>
          </p:nvSpPr>
          <p:spPr>
            <a:xfrm>
              <a:off x="3194913" y="2137410"/>
              <a:ext cx="182880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700" b="1" dirty="0">
                  <a:solidFill>
                    <a:srgbClr val="FFFFFF"/>
                  </a:solidFill>
                  <a:latin typeface="Arial"/>
                </a:rPr>
                <a:t>SM</a:t>
              </a:r>
            </a:p>
          </p:txBody>
        </p:sp>
      </p:grpSp>
      <p:pic>
        <p:nvPicPr>
          <p:cNvPr id="122" name="Picture 121">
            <a:extLst>
              <a:ext uri="{FF2B5EF4-FFF2-40B4-BE49-F238E27FC236}">
                <a16:creationId xmlns:a16="http://schemas.microsoft.com/office/drawing/2014/main" id="{DCFA9632-16C5-B97E-CA53-FB3D40552C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3401" y="2277364"/>
            <a:ext cx="876808" cy="876808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7FE2EF78-EB8C-64A7-828E-56A21A8554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7981" y="4107370"/>
            <a:ext cx="1066484" cy="1066484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BFBB23C2-DD1C-08BE-E192-C11ADB8C12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145" y="2320403"/>
            <a:ext cx="935355" cy="935355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6E93E578-FA7C-E49C-F421-039E899355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7049" y="2156587"/>
            <a:ext cx="997585" cy="997585"/>
          </a:xfrm>
          <a:prstGeom prst="rect">
            <a:avLst/>
          </a:prstGeom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7A50DA3-AAB9-7C2A-F766-7B84B002EC44}"/>
              </a:ext>
            </a:extLst>
          </p:cNvPr>
          <p:cNvGrpSpPr/>
          <p:nvPr/>
        </p:nvGrpSpPr>
        <p:grpSpPr>
          <a:xfrm>
            <a:off x="8869145" y="4243141"/>
            <a:ext cx="819285" cy="819198"/>
            <a:chOff x="10644187" y="4549140"/>
            <a:chExt cx="819285" cy="819198"/>
          </a:xfrm>
        </p:grpSpPr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77B63303-9A04-A0FC-7BCC-F3BABA6E2DFC}"/>
                </a:ext>
              </a:extLst>
            </p:cNvPr>
            <p:cNvSpPr/>
            <p:nvPr/>
          </p:nvSpPr>
          <p:spPr>
            <a:xfrm>
              <a:off x="10658475" y="4549140"/>
              <a:ext cx="804997" cy="804997"/>
            </a:xfrm>
            <a:prstGeom prst="cube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</a:gra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130" name="Graphic 129">
              <a:extLst>
                <a:ext uri="{FF2B5EF4-FFF2-40B4-BE49-F238E27FC236}">
                  <a16:creationId xmlns:a16="http://schemas.microsoft.com/office/drawing/2014/main" id="{1826BB27-D796-FA4D-E3A5-B65DC9AAF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44187" y="4756339"/>
              <a:ext cx="612000" cy="611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6B900"/>
                </a:solidFill>
                <a:latin typeface="Arial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Arial"/>
              </a:rPr>
              <a:t>Connection Styles &amp; Colors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775239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Arial"/>
              </a:rPr>
              <a:t>Line weight and color encode meaning. Use the same conventions across every diagram.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NVIDIA Academy · Visual Foundations · Topology Sample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v0.1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112471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938528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Sample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938528"/>
            <a:ext cx="120586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50591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Default link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66160" y="2583179"/>
            <a:ext cx="2926080" cy="0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6995160" y="2450591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B4B4B"/>
                </a:solidFill>
                <a:latin typeface="Arial"/>
              </a:rPr>
              <a:t>1.2pt · gray-500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2834640"/>
            <a:ext cx="9875520" cy="0"/>
          </a:xfrm>
          <a:prstGeom prst="line">
            <a:avLst/>
          </a:prstGeom>
          <a:ln w="6350">
            <a:solidFill>
              <a:srgbClr val="E5E5E5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960120" y="295351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Hot path / active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66160" y="3086100"/>
            <a:ext cx="2926080" cy="0"/>
          </a:xfrm>
          <a:prstGeom prst="line">
            <a:avLst/>
          </a:prstGeom>
          <a:ln w="25400">
            <a:solidFill>
              <a:srgbClr val="76B900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6995160" y="295351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B4B4B"/>
                </a:solidFill>
                <a:latin typeface="Arial"/>
              </a:rPr>
              <a:t>2.0pt · NVIDIA Green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3337560"/>
            <a:ext cx="9875520" cy="0"/>
          </a:xfrm>
          <a:prstGeom prst="line">
            <a:avLst/>
          </a:prstGeom>
          <a:ln w="6350">
            <a:solidFill>
              <a:srgbClr val="E5E5E5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960120" y="345643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Dimension 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66160" y="3589020"/>
            <a:ext cx="2926080" cy="0"/>
          </a:xfrm>
          <a:prstGeom prst="line">
            <a:avLst/>
          </a:prstGeom>
          <a:ln w="19050">
            <a:solidFill>
              <a:srgbClr val="76B900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6995160" y="345643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B4B4B"/>
                </a:solidFill>
                <a:latin typeface="Arial"/>
              </a:rPr>
              <a:t>1.5pt · NVIDIA Green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3840480"/>
            <a:ext cx="9875520" cy="0"/>
          </a:xfrm>
          <a:prstGeom prst="line">
            <a:avLst/>
          </a:prstGeom>
          <a:ln w="6350">
            <a:solidFill>
              <a:srgbClr val="E5E5E5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960120" y="395935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Dimension 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66160" y="4091940"/>
            <a:ext cx="2926080" cy="0"/>
          </a:xfrm>
          <a:prstGeom prst="line">
            <a:avLst/>
          </a:prstGeom>
          <a:ln w="19050">
            <a:solidFill>
              <a:srgbClr val="890C58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995160" y="395935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B4B4B"/>
                </a:solidFill>
                <a:latin typeface="Arial"/>
              </a:rPr>
              <a:t>1.5pt · Garnet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4343400"/>
            <a:ext cx="9875520" cy="0"/>
          </a:xfrm>
          <a:prstGeom prst="line">
            <a:avLst/>
          </a:prstGeom>
          <a:ln w="6350">
            <a:solidFill>
              <a:srgbClr val="E5E5E5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960120" y="446227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Dimension Z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566160" y="4594860"/>
            <a:ext cx="2926080" cy="0"/>
          </a:xfrm>
          <a:prstGeom prst="line">
            <a:avLst/>
          </a:prstGeom>
          <a:ln w="19050">
            <a:solidFill>
              <a:srgbClr val="0071C5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995160" y="44622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B4B4B"/>
                </a:solidFill>
                <a:latin typeface="Arial"/>
              </a:rPr>
              <a:t>1.5pt · CPU Blue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2960" y="4846320"/>
            <a:ext cx="9875520" cy="0"/>
          </a:xfrm>
          <a:prstGeom prst="line">
            <a:avLst/>
          </a:prstGeom>
          <a:ln w="6350">
            <a:solidFill>
              <a:srgbClr val="E5E5E5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960120" y="496519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Fat-tree top tier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566160" y="5097780"/>
            <a:ext cx="2926080" cy="0"/>
          </a:xfrm>
          <a:prstGeom prst="line">
            <a:avLst/>
          </a:prstGeom>
          <a:ln w="25400">
            <a:solidFill>
              <a:srgbClr val="1A1A1A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6995160" y="496519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B4B4B"/>
                </a:solidFill>
                <a:latin typeface="Arial"/>
              </a:rPr>
              <a:t>2.0pt · dark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2960" y="5349240"/>
            <a:ext cx="9875520" cy="0"/>
          </a:xfrm>
          <a:prstGeom prst="line">
            <a:avLst/>
          </a:prstGeom>
          <a:ln w="6350">
            <a:solidFill>
              <a:srgbClr val="E5E5E5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960120" y="546811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Fat-tree bottom tier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566160" y="5600700"/>
            <a:ext cx="2926080" cy="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6995160" y="546811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B4B4B"/>
                </a:solidFill>
                <a:latin typeface="Arial"/>
              </a:rPr>
              <a:t>1.0pt · dark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2960" y="5852160"/>
            <a:ext cx="9875520" cy="0"/>
          </a:xfrm>
          <a:prstGeom prst="line">
            <a:avLst/>
          </a:prstGeom>
          <a:ln w="6350">
            <a:solidFill>
              <a:srgbClr val="E5E5E5"/>
            </a:solidFill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960120" y="597103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Inactive / fallback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566160" y="6103620"/>
            <a:ext cx="2926080" cy="0"/>
          </a:xfrm>
          <a:prstGeom prst="line">
            <a:avLst/>
          </a:prstGeom>
          <a:ln w="12700">
            <a:solidFill>
              <a:srgbClr val="757575"/>
            </a:solidFill>
            <a:prstDash val="dash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6995160" y="597103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B4B4B"/>
                </a:solidFill>
                <a:latin typeface="Arial"/>
              </a:rPr>
              <a:t>1.0pt · dashed gray-500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22960" y="6355080"/>
            <a:ext cx="9875520" cy="0"/>
          </a:xfrm>
          <a:prstGeom prst="line">
            <a:avLst/>
          </a:prstGeom>
          <a:ln w="6350">
            <a:solidFill>
              <a:srgbClr val="E5E5E5"/>
            </a:solidFill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10424160" y="20145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757575"/>
                </a:solidFill>
                <a:latin typeface="Arial"/>
              </a:rPr>
              <a:t>SHAPE RULES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238030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Square corners only.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267290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1.2pt strokes by default.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2965516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White fill, dark gray stroke.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3258124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1A1A1A"/>
                </a:solidFill>
                <a:latin typeface="Arial"/>
              </a:rPr>
              <a:t>Use color to encode role,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0" y="3550731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not to decorate.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6B900"/>
                </a:solidFill>
                <a:latin typeface="Arial"/>
              </a:rPr>
              <a:t>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Arial"/>
              </a:rPr>
              <a:t>Topology · Leaf-Spine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Arial"/>
              </a:rPr>
              <a:t>Two tiers, fully meshed. Every leaf connects to every spine. Bisection bandwidth is uniform.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3657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NVIDIA Academy · Visual Foundations · Topology Sample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v0.1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685800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6BB8C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6B900"/>
                </a:solidFill>
                <a:latin typeface="Arial"/>
              </a:rPr>
              <a:t>Leaf-Spine · 3 spines × 4 leaves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1554480" y="3502152"/>
            <a:ext cx="548640" cy="122529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2103120" y="3502152"/>
            <a:ext cx="1097280" cy="122529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2103120" y="3502152"/>
            <a:ext cx="2926080" cy="122529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2103120" y="3502152"/>
            <a:ext cx="4754880" cy="122529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H="1">
            <a:off x="1554480" y="3502152"/>
            <a:ext cx="2651760" cy="122529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H="1">
            <a:off x="3200400" y="3502152"/>
            <a:ext cx="1005840" cy="122529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4206240" y="3502152"/>
            <a:ext cx="822960" cy="122529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4206240" y="3502152"/>
            <a:ext cx="2651760" cy="122529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H="1">
            <a:off x="1554480" y="3502152"/>
            <a:ext cx="4754880" cy="122529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 flipH="1">
            <a:off x="3200400" y="3502152"/>
            <a:ext cx="3108960" cy="122529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H="1">
            <a:off x="5029200" y="3502152"/>
            <a:ext cx="1280160" cy="122529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6309360" y="3502152"/>
            <a:ext cx="548640" cy="122529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7772400" y="305409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B4B4B"/>
                </a:solidFill>
                <a:latin typeface="Arial"/>
              </a:rPr>
              <a:t>Spine / Core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488289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B4B4B"/>
                </a:solidFill>
                <a:latin typeface="Arial"/>
              </a:rPr>
              <a:t>Leaf / Edge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37360" y="2542032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SP-1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0" y="2542032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SP-2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2542032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SP-3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88720" y="539496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LF-1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34640" y="539496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LF-2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539496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LF-3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2240" y="539496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LF-4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0" y="19202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57575"/>
                </a:solidFill>
                <a:latin typeface="Arial"/>
              </a:rPr>
              <a:t>RULES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0" y="228600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TIERS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0" y="2505456"/>
            <a:ext cx="25603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Two. Spine + Leaf.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0" y="2944368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CONNECTIONS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0" y="3163824"/>
            <a:ext cx="25603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Every leaf to every spine.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0" y="3602735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HOSTS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3822191"/>
            <a:ext cx="25603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Connect only to leaves.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0" y="4261103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LINES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0" y="4480559"/>
            <a:ext cx="25603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1.2pt gray. Hot path 2pt green.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0" y="4919471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LABELS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5138927"/>
            <a:ext cx="25603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SP-n / LF-n. Role on the right.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0" y="5577839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USE WHEN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0" y="5797295"/>
            <a:ext cx="25603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Predictable east-west traffic.</a:t>
            </a:r>
          </a:p>
        </p:txBody>
      </p:sp>
      <p:pic>
        <p:nvPicPr>
          <p:cNvPr id="78" name="Graphic 77">
            <a:extLst>
              <a:ext uri="{FF2B5EF4-FFF2-40B4-BE49-F238E27FC236}">
                <a16:creationId xmlns:a16="http://schemas.microsoft.com/office/drawing/2014/main" id="{A74C968D-2238-82C5-A5AE-0559C8310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1" y="2868084"/>
            <a:ext cx="644401" cy="644400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FBE42B5A-5978-6BF4-7C42-F87A7FC74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5649" y="2863375"/>
            <a:ext cx="644401" cy="64440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EA8F6A97-4897-7DBC-4329-417DD9074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2497" y="2858666"/>
            <a:ext cx="644401" cy="644400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D26DD2BB-2E90-1B96-1F05-83865EECF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6416" y="4727448"/>
            <a:ext cx="644927" cy="644926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DFFE56E3-BDCB-F695-43C8-0470E9AC9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233" y="4688449"/>
            <a:ext cx="644927" cy="644926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58FF6F5F-944B-8849-7B34-A9B9BC115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6050" y="4649450"/>
            <a:ext cx="644927" cy="644926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E5624D43-9E3D-3622-9EE4-FB18A9090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0867" y="4610451"/>
            <a:ext cx="644927" cy="6449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6B900"/>
                </a:solidFill>
                <a:latin typeface="Arial"/>
              </a:rPr>
              <a:t>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846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Arial"/>
              </a:rPr>
              <a:t>Topology · Fat-tree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Arial"/>
              </a:rPr>
              <a:t>Trunk gets fatter as you climb. Top-tier links are drawn 2pt; bottom-tier links 1pt.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NVIDIA Academy · Visual Foundations · Topology Sample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v0.1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78638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6BB8C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6B900"/>
                </a:solidFill>
                <a:latin typeface="Arial"/>
              </a:rPr>
              <a:t>Fat-tree · 2 cores × 4 leaves × 8 hosts</a:t>
            </a:r>
          </a:p>
        </p:txBody>
      </p:sp>
      <p:cxnSp>
        <p:nvCxnSpPr>
          <p:cNvPr id="127" name="Connector 126"/>
          <p:cNvCxnSpPr/>
          <p:nvPr/>
        </p:nvCxnSpPr>
        <p:spPr>
          <a:xfrm flipH="1">
            <a:off x="1920240" y="3136392"/>
            <a:ext cx="1188720" cy="905256"/>
          </a:xfrm>
          <a:prstGeom prst="line">
            <a:avLst/>
          </a:prstGeom>
          <a:ln w="25400">
            <a:solidFill>
              <a:srgbClr val="1A1A1A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>
            <a:off x="3108960" y="3136392"/>
            <a:ext cx="640080" cy="905256"/>
          </a:xfrm>
          <a:prstGeom prst="line">
            <a:avLst/>
          </a:prstGeom>
          <a:ln w="25400">
            <a:solidFill>
              <a:srgbClr val="1A1A1A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3108960" y="3136392"/>
            <a:ext cx="2468880" cy="905256"/>
          </a:xfrm>
          <a:prstGeom prst="line">
            <a:avLst/>
          </a:prstGeom>
          <a:ln w="25400">
            <a:solidFill>
              <a:srgbClr val="1A1A1A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>
            <a:off x="3108960" y="3136392"/>
            <a:ext cx="4297680" cy="905256"/>
          </a:xfrm>
          <a:prstGeom prst="line">
            <a:avLst/>
          </a:prstGeom>
          <a:ln w="25400">
            <a:solidFill>
              <a:srgbClr val="1A1A1A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 flipH="1">
            <a:off x="1920240" y="3136392"/>
            <a:ext cx="4389120" cy="905256"/>
          </a:xfrm>
          <a:prstGeom prst="line">
            <a:avLst/>
          </a:prstGeom>
          <a:ln w="25400">
            <a:solidFill>
              <a:srgbClr val="1A1A1A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H="1">
            <a:off x="3749040" y="3136392"/>
            <a:ext cx="2560320" cy="905256"/>
          </a:xfrm>
          <a:prstGeom prst="line">
            <a:avLst/>
          </a:prstGeom>
          <a:ln w="25400">
            <a:solidFill>
              <a:srgbClr val="1A1A1A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 flipH="1">
            <a:off x="5577840" y="3136392"/>
            <a:ext cx="731520" cy="905256"/>
          </a:xfrm>
          <a:prstGeom prst="line">
            <a:avLst/>
          </a:prstGeom>
          <a:ln w="25400">
            <a:solidFill>
              <a:srgbClr val="1A1A1A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>
            <a:off x="6309360" y="3136392"/>
            <a:ext cx="1097280" cy="905256"/>
          </a:xfrm>
          <a:prstGeom prst="line">
            <a:avLst/>
          </a:prstGeom>
          <a:ln w="25400">
            <a:solidFill>
              <a:srgbClr val="1A1A1A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 flipH="1">
            <a:off x="1554480" y="4553712"/>
            <a:ext cx="365760" cy="749808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>
            <a:off x="1920240" y="4553712"/>
            <a:ext cx="365760" cy="749808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 flipH="1">
            <a:off x="3383280" y="4553712"/>
            <a:ext cx="365760" cy="749808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>
            <a:off x="3749040" y="4553712"/>
            <a:ext cx="365760" cy="749808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 flipH="1">
            <a:off x="5212080" y="4553712"/>
            <a:ext cx="365760" cy="749808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5577840" y="4553712"/>
            <a:ext cx="365760" cy="749808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 flipH="1">
            <a:off x="7040879" y="4553712"/>
            <a:ext cx="365761" cy="749808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7406640" y="4553712"/>
            <a:ext cx="365760" cy="749808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</p:cxnSp>
      <p:sp>
        <p:nvSpPr>
          <p:cNvPr id="143" name="TextBox 142"/>
          <p:cNvSpPr txBox="1"/>
          <p:nvPr/>
        </p:nvSpPr>
        <p:spPr>
          <a:xfrm>
            <a:off x="7315200" y="2670048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4B4B4B"/>
                </a:solidFill>
                <a:latin typeface="Arial"/>
              </a:rPr>
              <a:t>Core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315200" y="4133088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4B4B4B"/>
                </a:solidFill>
                <a:latin typeface="Arial"/>
              </a:rPr>
              <a:t>Leaf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315200" y="5413248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4B4B4B"/>
                </a:solidFill>
                <a:latin typeface="Arial"/>
              </a:rPr>
              <a:t>Host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144000" y="19202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57575"/>
                </a:solidFill>
                <a:latin typeface="Arial"/>
              </a:rPr>
              <a:t>RULES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144000" y="228600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TIERS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144000" y="2505456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Three. Core · Leaf · Host.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44000" y="2980944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TOP TIER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144000" y="320040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Draw at 2pt — bandwidth is doubled.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44000" y="3675887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BOTTOM TIER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144000" y="3895344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Draw at 1pt — single link per host.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144000" y="4370831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COLOR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144000" y="4590288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Dark gray. Do not green-wash.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144000" y="5065775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USE WHEN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144000" y="5285231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All-to-all collectives at scale.</a:t>
            </a:r>
          </a:p>
        </p:txBody>
      </p:sp>
      <p:pic>
        <p:nvPicPr>
          <p:cNvPr id="157" name="Graphic 156">
            <a:extLst>
              <a:ext uri="{FF2B5EF4-FFF2-40B4-BE49-F238E27FC236}">
                <a16:creationId xmlns:a16="http://schemas.microsoft.com/office/drawing/2014/main" id="{5B028787-13CE-ED4E-2FF6-04B69C011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8368" y="2488675"/>
            <a:ext cx="612000" cy="611999"/>
          </a:xfrm>
          <a:prstGeom prst="rect">
            <a:avLst/>
          </a:prstGeom>
        </p:spPr>
      </p:pic>
      <p:pic>
        <p:nvPicPr>
          <p:cNvPr id="158" name="Graphic 157">
            <a:extLst>
              <a:ext uri="{FF2B5EF4-FFF2-40B4-BE49-F238E27FC236}">
                <a16:creationId xmlns:a16="http://schemas.microsoft.com/office/drawing/2014/main" id="{6A95136A-AB3A-1FE0-73AF-39BA1DEFE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0" y="2488675"/>
            <a:ext cx="612000" cy="611999"/>
          </a:xfrm>
          <a:prstGeom prst="rect">
            <a:avLst/>
          </a:prstGeom>
        </p:spPr>
      </p:pic>
      <p:pic>
        <p:nvPicPr>
          <p:cNvPr id="159" name="Graphic 158">
            <a:extLst>
              <a:ext uri="{FF2B5EF4-FFF2-40B4-BE49-F238E27FC236}">
                <a16:creationId xmlns:a16="http://schemas.microsoft.com/office/drawing/2014/main" id="{95221BC5-4108-84C4-DEED-EA8AA1C7F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9344" y="4051936"/>
            <a:ext cx="612000" cy="611999"/>
          </a:xfrm>
          <a:prstGeom prst="rect">
            <a:avLst/>
          </a:prstGeom>
        </p:spPr>
      </p:pic>
      <p:pic>
        <p:nvPicPr>
          <p:cNvPr id="160" name="Graphic 159">
            <a:extLst>
              <a:ext uri="{FF2B5EF4-FFF2-40B4-BE49-F238E27FC236}">
                <a16:creationId xmlns:a16="http://schemas.microsoft.com/office/drawing/2014/main" id="{6C6E071E-2A59-C5B7-2ABC-C0F22D21B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8144" y="4051936"/>
            <a:ext cx="612000" cy="611999"/>
          </a:xfrm>
          <a:prstGeom prst="rect">
            <a:avLst/>
          </a:prstGeom>
        </p:spPr>
      </p:pic>
      <p:pic>
        <p:nvPicPr>
          <p:cNvPr id="161" name="Graphic 160">
            <a:extLst>
              <a:ext uri="{FF2B5EF4-FFF2-40B4-BE49-F238E27FC236}">
                <a16:creationId xmlns:a16="http://schemas.microsoft.com/office/drawing/2014/main" id="{B668C109-AAE0-F842-F8B4-FCD2613B7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6944" y="4051936"/>
            <a:ext cx="612000" cy="611999"/>
          </a:xfrm>
          <a:prstGeom prst="rect">
            <a:avLst/>
          </a:prstGeom>
        </p:spPr>
      </p:pic>
      <p:pic>
        <p:nvPicPr>
          <p:cNvPr id="162" name="Graphic 161">
            <a:extLst>
              <a:ext uri="{FF2B5EF4-FFF2-40B4-BE49-F238E27FC236}">
                <a16:creationId xmlns:a16="http://schemas.microsoft.com/office/drawing/2014/main" id="{CFFEBEB8-1C1E-BBF4-87A2-4EB92DFEB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5744" y="4051936"/>
            <a:ext cx="612000" cy="611999"/>
          </a:xfrm>
          <a:prstGeom prst="rect">
            <a:avLst/>
          </a:prstGeom>
        </p:spPr>
      </p:pic>
      <p:pic>
        <p:nvPicPr>
          <p:cNvPr id="163" name="Graphic 162">
            <a:extLst>
              <a:ext uri="{FF2B5EF4-FFF2-40B4-BE49-F238E27FC236}">
                <a16:creationId xmlns:a16="http://schemas.microsoft.com/office/drawing/2014/main" id="{070AA48E-85F1-6E17-382A-801D5CD9BD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7668" y="5285231"/>
            <a:ext cx="425755" cy="713139"/>
          </a:xfrm>
          <a:prstGeom prst="rect">
            <a:avLst/>
          </a:prstGeom>
        </p:spPr>
      </p:pic>
      <p:pic>
        <p:nvPicPr>
          <p:cNvPr id="164" name="Graphic 163">
            <a:extLst>
              <a:ext uri="{FF2B5EF4-FFF2-40B4-BE49-F238E27FC236}">
                <a16:creationId xmlns:a16="http://schemas.microsoft.com/office/drawing/2014/main" id="{385F056F-F9FF-6349-CBC2-8AFCCFA5FC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3122" y="5285231"/>
            <a:ext cx="425755" cy="713139"/>
          </a:xfrm>
          <a:prstGeom prst="rect">
            <a:avLst/>
          </a:prstGeom>
        </p:spPr>
      </p:pic>
      <p:pic>
        <p:nvPicPr>
          <p:cNvPr id="165" name="Graphic 164">
            <a:extLst>
              <a:ext uri="{FF2B5EF4-FFF2-40B4-BE49-F238E27FC236}">
                <a16:creationId xmlns:a16="http://schemas.microsoft.com/office/drawing/2014/main" id="{6FA6B696-00FC-5995-FD30-D5A2CA1CFB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33077" y="5285231"/>
            <a:ext cx="425755" cy="713139"/>
          </a:xfrm>
          <a:prstGeom prst="rect">
            <a:avLst/>
          </a:prstGeom>
        </p:spPr>
      </p:pic>
      <p:pic>
        <p:nvPicPr>
          <p:cNvPr id="166" name="Graphic 165">
            <a:extLst>
              <a:ext uri="{FF2B5EF4-FFF2-40B4-BE49-F238E27FC236}">
                <a16:creationId xmlns:a16="http://schemas.microsoft.com/office/drawing/2014/main" id="{23D585A2-27FF-94D1-2D49-4963843767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8531" y="5285231"/>
            <a:ext cx="425755" cy="713139"/>
          </a:xfrm>
          <a:prstGeom prst="rect">
            <a:avLst/>
          </a:prstGeom>
        </p:spPr>
      </p:pic>
      <p:pic>
        <p:nvPicPr>
          <p:cNvPr id="167" name="Graphic 166">
            <a:extLst>
              <a:ext uri="{FF2B5EF4-FFF2-40B4-BE49-F238E27FC236}">
                <a16:creationId xmlns:a16="http://schemas.microsoft.com/office/drawing/2014/main" id="{884178F2-AE08-221E-9CCB-380B544EF5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8486" y="5285231"/>
            <a:ext cx="425755" cy="713139"/>
          </a:xfrm>
          <a:prstGeom prst="rect">
            <a:avLst/>
          </a:prstGeom>
        </p:spPr>
      </p:pic>
      <p:pic>
        <p:nvPicPr>
          <p:cNvPr id="168" name="Graphic 167">
            <a:extLst>
              <a:ext uri="{FF2B5EF4-FFF2-40B4-BE49-F238E27FC236}">
                <a16:creationId xmlns:a16="http://schemas.microsoft.com/office/drawing/2014/main" id="{14484F88-F83A-DB3B-72F5-6F9567CB02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3940" y="5285231"/>
            <a:ext cx="425755" cy="713139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6C1365D6-3C7E-8DC5-E518-3BAA56B5DC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83895" y="5285231"/>
            <a:ext cx="425755" cy="713139"/>
          </a:xfrm>
          <a:prstGeom prst="rect">
            <a:avLst/>
          </a:prstGeom>
        </p:spPr>
      </p:pic>
      <p:pic>
        <p:nvPicPr>
          <p:cNvPr id="170" name="Graphic 169">
            <a:extLst>
              <a:ext uri="{FF2B5EF4-FFF2-40B4-BE49-F238E27FC236}">
                <a16:creationId xmlns:a16="http://schemas.microsoft.com/office/drawing/2014/main" id="{EBEF156A-02ED-D061-14BB-DB6300A693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9349" y="5285231"/>
            <a:ext cx="425755" cy="7131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6B900"/>
                </a:solidFill>
                <a:latin typeface="Arial"/>
              </a:rPr>
              <a:t>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Arial"/>
              </a:rPr>
              <a:t>Topology · Dragonfly+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Arial"/>
              </a:rPr>
              <a:t>Groups of leaf-spine cells, fully meshed between groups in NVIDIA Green.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NVIDIA Academy · Visual Foundations · Topology Sample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v0.1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78638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6BB8C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6B900"/>
                </a:solidFill>
                <a:latin typeface="Arial"/>
              </a:rPr>
              <a:t>Dragonfly+ · 3 groups (2 spines × 2 leaves each)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3703320"/>
            <a:ext cx="1737360" cy="2286000"/>
          </a:xfrm>
          <a:prstGeom prst="rect">
            <a:avLst/>
          </a:prstGeom>
          <a:noFill/>
          <a:ln w="9525">
            <a:solidFill>
              <a:srgbClr val="C4C4C4"/>
            </a:solidFill>
            <a:prstDash val="dash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00200" y="60350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757575"/>
                </a:solidFill>
                <a:latin typeface="Arial"/>
              </a:rPr>
              <a:t>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3703320"/>
            <a:ext cx="1737360" cy="2286000"/>
          </a:xfrm>
          <a:prstGeom prst="rect">
            <a:avLst/>
          </a:prstGeom>
          <a:noFill/>
          <a:ln w="9525">
            <a:solidFill>
              <a:srgbClr val="C4C4C4"/>
            </a:solidFill>
            <a:prstDash val="dash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86200" y="60350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757575"/>
                </a:solidFill>
                <a:latin typeface="Arial"/>
              </a:rPr>
              <a:t>Group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1737360" cy="2286000"/>
          </a:xfrm>
          <a:prstGeom prst="rect">
            <a:avLst/>
          </a:prstGeom>
          <a:noFill/>
          <a:ln w="9525">
            <a:solidFill>
              <a:srgbClr val="C4C4C4"/>
            </a:solidFill>
            <a:prstDash val="dash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60350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757575"/>
                </a:solidFill>
                <a:latin typeface="Arial"/>
              </a:rPr>
              <a:t>Group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65960" y="4325112"/>
            <a:ext cx="0" cy="95097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965960" y="4325112"/>
            <a:ext cx="1005840" cy="95097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 flipH="1">
            <a:off x="1965960" y="4325112"/>
            <a:ext cx="1005840" cy="95097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2971800" y="4325112"/>
            <a:ext cx="0" cy="95097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4251960" y="4325112"/>
            <a:ext cx="0" cy="95097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4251960" y="4325112"/>
            <a:ext cx="1005840" cy="95097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H="1">
            <a:off x="4251960" y="4325112"/>
            <a:ext cx="1005840" cy="95097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5257800" y="4325112"/>
            <a:ext cx="0" cy="95097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6537960" y="4325112"/>
            <a:ext cx="0" cy="95097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6537960" y="4325112"/>
            <a:ext cx="1005840" cy="95097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 flipH="1">
            <a:off x="6537960" y="4325112"/>
            <a:ext cx="1005840" cy="95097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7543800" y="4325112"/>
            <a:ext cx="0" cy="950976"/>
          </a:xfrm>
          <a:prstGeom prst="line">
            <a:avLst/>
          </a:prstGeom>
          <a:ln w="15240">
            <a:solidFill>
              <a:srgbClr val="757575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 flipV="1">
            <a:off x="2971800" y="3703320"/>
            <a:ext cx="0" cy="201167"/>
          </a:xfrm>
          <a:prstGeom prst="line">
            <a:avLst/>
          </a:prstGeom>
          <a:ln w="25400">
            <a:solidFill>
              <a:srgbClr val="76B900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>
            <a:off x="2971800" y="3703320"/>
            <a:ext cx="1280160" cy="0"/>
          </a:xfrm>
          <a:prstGeom prst="line">
            <a:avLst/>
          </a:prstGeom>
          <a:ln w="25400">
            <a:solidFill>
              <a:srgbClr val="76B900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4251960" y="3703320"/>
            <a:ext cx="0" cy="201167"/>
          </a:xfrm>
          <a:prstGeom prst="line">
            <a:avLst/>
          </a:prstGeom>
          <a:ln w="25400">
            <a:solidFill>
              <a:srgbClr val="76B900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5257800" y="3703320"/>
            <a:ext cx="0" cy="201167"/>
          </a:xfrm>
          <a:prstGeom prst="line">
            <a:avLst/>
          </a:prstGeom>
          <a:ln w="25400">
            <a:solidFill>
              <a:srgbClr val="76B900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5257800" y="3703320"/>
            <a:ext cx="1280160" cy="0"/>
          </a:xfrm>
          <a:prstGeom prst="line">
            <a:avLst/>
          </a:prstGeom>
          <a:ln w="25400">
            <a:solidFill>
              <a:srgbClr val="76B900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>
            <a:off x="6537960" y="3703320"/>
            <a:ext cx="0" cy="201167"/>
          </a:xfrm>
          <a:prstGeom prst="line">
            <a:avLst/>
          </a:prstGeom>
          <a:ln w="25400">
            <a:solidFill>
              <a:srgbClr val="76B900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 flipV="1">
            <a:off x="2971800" y="3246120"/>
            <a:ext cx="0" cy="658367"/>
          </a:xfrm>
          <a:prstGeom prst="line">
            <a:avLst/>
          </a:prstGeom>
          <a:ln w="25400">
            <a:solidFill>
              <a:srgbClr val="76B900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>
            <a:off x="2971800" y="3246120"/>
            <a:ext cx="3566160" cy="0"/>
          </a:xfrm>
          <a:prstGeom prst="line">
            <a:avLst/>
          </a:prstGeom>
          <a:ln w="25400">
            <a:solidFill>
              <a:srgbClr val="76B900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6537960" y="3246120"/>
            <a:ext cx="0" cy="658367"/>
          </a:xfrm>
          <a:prstGeom prst="line">
            <a:avLst/>
          </a:prstGeom>
          <a:ln w="25400">
            <a:solidFill>
              <a:srgbClr val="76B900"/>
            </a:solidFill>
          </a:ln>
          <a:effectLst/>
        </p:spPr>
      </p:cxnSp>
      <p:sp>
        <p:nvSpPr>
          <p:cNvPr id="96" name="TextBox 95"/>
          <p:cNvSpPr txBox="1"/>
          <p:nvPr/>
        </p:nvSpPr>
        <p:spPr>
          <a:xfrm>
            <a:off x="9144000" y="19202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57575"/>
                </a:solidFill>
                <a:latin typeface="Arial"/>
              </a:rPr>
              <a:t>RULES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0" y="228600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INSIDE A GROUP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44000" y="2505456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Leaf-spine bipartite. Gray 1.2pt.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44000" y="2999232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BETWEEN GROUPS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144000" y="3218688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Full mesh. NVIDIA Green 2.0pt.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144000" y="3712464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VISUAL HIERARCHY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44000" y="39319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Green is the long-haul story.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44000" y="442569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USE WHEN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0" y="4645152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Very large clusters, low hop count.</a:t>
            </a:r>
          </a:p>
        </p:txBody>
      </p:sp>
      <p:pic>
        <p:nvPicPr>
          <p:cNvPr id="105" name="Graphic 104">
            <a:extLst>
              <a:ext uri="{FF2B5EF4-FFF2-40B4-BE49-F238E27FC236}">
                <a16:creationId xmlns:a16="http://schemas.microsoft.com/office/drawing/2014/main" id="{14094E45-522B-765B-45A0-41A72308D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6989" y="3904487"/>
            <a:ext cx="437940" cy="437939"/>
          </a:xfrm>
          <a:prstGeom prst="rect">
            <a:avLst/>
          </a:prstGeom>
        </p:spPr>
      </p:pic>
      <p:pic>
        <p:nvPicPr>
          <p:cNvPr id="106" name="Graphic 105">
            <a:extLst>
              <a:ext uri="{FF2B5EF4-FFF2-40B4-BE49-F238E27FC236}">
                <a16:creationId xmlns:a16="http://schemas.microsoft.com/office/drawing/2014/main" id="{394D5091-2C28-0592-E8D9-EB3077A13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5686" y="3902116"/>
            <a:ext cx="437940" cy="437939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3FD42D7D-FBCB-F576-9A68-DBE99841C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4133" y="5288089"/>
            <a:ext cx="437940" cy="437939"/>
          </a:xfrm>
          <a:prstGeom prst="rect">
            <a:avLst/>
          </a:prstGeom>
        </p:spPr>
      </p:pic>
      <p:pic>
        <p:nvPicPr>
          <p:cNvPr id="108" name="Graphic 107">
            <a:extLst>
              <a:ext uri="{FF2B5EF4-FFF2-40B4-BE49-F238E27FC236}">
                <a16:creationId xmlns:a16="http://schemas.microsoft.com/office/drawing/2014/main" id="{445135A8-3F3F-0768-492F-31502920C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2830" y="5285718"/>
            <a:ext cx="437940" cy="437939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E082CE7A-CCB1-5E5D-17E9-2A5A52616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0133" y="3916488"/>
            <a:ext cx="437940" cy="437939"/>
          </a:xfrm>
          <a:prstGeom prst="rect">
            <a:avLst/>
          </a:prstGeom>
        </p:spPr>
      </p:pic>
      <p:pic>
        <p:nvPicPr>
          <p:cNvPr id="110" name="Graphic 109">
            <a:extLst>
              <a:ext uri="{FF2B5EF4-FFF2-40B4-BE49-F238E27FC236}">
                <a16:creationId xmlns:a16="http://schemas.microsoft.com/office/drawing/2014/main" id="{2C0C33E8-6B42-3A59-2009-1A72965D2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8830" y="3914117"/>
            <a:ext cx="437940" cy="437939"/>
          </a:xfrm>
          <a:prstGeom prst="rect">
            <a:avLst/>
          </a:prstGeom>
        </p:spPr>
      </p:pic>
      <p:pic>
        <p:nvPicPr>
          <p:cNvPr id="111" name="Graphic 110">
            <a:extLst>
              <a:ext uri="{FF2B5EF4-FFF2-40B4-BE49-F238E27FC236}">
                <a16:creationId xmlns:a16="http://schemas.microsoft.com/office/drawing/2014/main" id="{247178E2-D343-7D8F-F80E-63D8FAEEC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7277" y="5300090"/>
            <a:ext cx="437940" cy="437939"/>
          </a:xfrm>
          <a:prstGeom prst="rect">
            <a:avLst/>
          </a:prstGeom>
        </p:spPr>
      </p:pic>
      <p:pic>
        <p:nvPicPr>
          <p:cNvPr id="112" name="Graphic 111">
            <a:extLst>
              <a:ext uri="{FF2B5EF4-FFF2-40B4-BE49-F238E27FC236}">
                <a16:creationId xmlns:a16="http://schemas.microsoft.com/office/drawing/2014/main" id="{6BA6ABF5-9939-3177-DD6A-A3ADA413C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5974" y="5297719"/>
            <a:ext cx="437940" cy="437939"/>
          </a:xfrm>
          <a:prstGeom prst="rect">
            <a:avLst/>
          </a:prstGeom>
        </p:spPr>
      </p:pic>
      <p:pic>
        <p:nvPicPr>
          <p:cNvPr id="113" name="Graphic 112">
            <a:extLst>
              <a:ext uri="{FF2B5EF4-FFF2-40B4-BE49-F238E27FC236}">
                <a16:creationId xmlns:a16="http://schemas.microsoft.com/office/drawing/2014/main" id="{AAACF1AA-C983-AC67-C49B-290E81FA4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3277" y="3928489"/>
            <a:ext cx="437940" cy="437939"/>
          </a:xfrm>
          <a:prstGeom prst="rect">
            <a:avLst/>
          </a:prstGeom>
        </p:spPr>
      </p:pic>
      <p:pic>
        <p:nvPicPr>
          <p:cNvPr id="114" name="Graphic 113">
            <a:extLst>
              <a:ext uri="{FF2B5EF4-FFF2-40B4-BE49-F238E27FC236}">
                <a16:creationId xmlns:a16="http://schemas.microsoft.com/office/drawing/2014/main" id="{B2C2FDEA-9F87-801F-9D98-9D8C7EEAF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1974" y="3926118"/>
            <a:ext cx="437940" cy="437939"/>
          </a:xfrm>
          <a:prstGeom prst="rect">
            <a:avLst/>
          </a:prstGeom>
        </p:spPr>
      </p:pic>
      <p:pic>
        <p:nvPicPr>
          <p:cNvPr id="115" name="Graphic 114">
            <a:extLst>
              <a:ext uri="{FF2B5EF4-FFF2-40B4-BE49-F238E27FC236}">
                <a16:creationId xmlns:a16="http://schemas.microsoft.com/office/drawing/2014/main" id="{B0C9F009-4719-4433-EF18-238F51776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0421" y="5312091"/>
            <a:ext cx="437940" cy="437939"/>
          </a:xfrm>
          <a:prstGeom prst="rect">
            <a:avLst/>
          </a:prstGeom>
        </p:spPr>
      </p:pic>
      <p:pic>
        <p:nvPicPr>
          <p:cNvPr id="116" name="Graphic 115">
            <a:extLst>
              <a:ext uri="{FF2B5EF4-FFF2-40B4-BE49-F238E27FC236}">
                <a16:creationId xmlns:a16="http://schemas.microsoft.com/office/drawing/2014/main" id="{345F78D2-FBF8-B36C-A0A1-BE1023853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9118" y="5309720"/>
            <a:ext cx="437940" cy="4379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6B900"/>
                </a:solidFill>
                <a:latin typeface="Arial"/>
              </a:rPr>
              <a:t>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Arial"/>
              </a:rPr>
              <a:t>Topology · Torus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Arial"/>
              </a:rPr>
              <a:t>Isometric 2 × 2 × 2 grid. Each dimension uses its own color; dashed stubs at each corner mark the wraparound.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NVIDIA Academy · Visual Foundations · Topology Sample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v0.1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78638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6BB8C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6B900"/>
                </a:solidFill>
                <a:latin typeface="Arial"/>
              </a:rPr>
              <a:t>Torus 3D · 2 × 2 × 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89120" y="4206240"/>
            <a:ext cx="1005840" cy="0"/>
          </a:xfrm>
          <a:prstGeom prst="line">
            <a:avLst/>
          </a:prstGeom>
          <a:ln w="25400">
            <a:solidFill>
              <a:srgbClr val="76B90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3822191" y="4206240"/>
            <a:ext cx="566929" cy="329184"/>
          </a:xfrm>
          <a:prstGeom prst="line">
            <a:avLst/>
          </a:prstGeom>
          <a:ln w="25400">
            <a:solidFill>
              <a:srgbClr val="890C58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4389120" y="3291840"/>
            <a:ext cx="0" cy="914400"/>
          </a:xfrm>
          <a:prstGeom prst="line">
            <a:avLst/>
          </a:prstGeom>
          <a:ln w="25400">
            <a:solidFill>
              <a:srgbClr val="0071C5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4389120" y="3291840"/>
            <a:ext cx="1005840" cy="0"/>
          </a:xfrm>
          <a:prstGeom prst="line">
            <a:avLst/>
          </a:prstGeom>
          <a:ln w="25400">
            <a:solidFill>
              <a:srgbClr val="76B90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H="1">
            <a:off x="3822191" y="3291840"/>
            <a:ext cx="566929" cy="329184"/>
          </a:xfrm>
          <a:prstGeom prst="line">
            <a:avLst/>
          </a:prstGeom>
          <a:ln w="25400">
            <a:solidFill>
              <a:srgbClr val="890C58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3822191" y="4535424"/>
            <a:ext cx="1005841" cy="0"/>
          </a:xfrm>
          <a:prstGeom prst="line">
            <a:avLst/>
          </a:prstGeom>
          <a:ln w="25400">
            <a:solidFill>
              <a:srgbClr val="76B90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 flipV="1">
            <a:off x="3822191" y="3621024"/>
            <a:ext cx="0" cy="914400"/>
          </a:xfrm>
          <a:prstGeom prst="line">
            <a:avLst/>
          </a:prstGeom>
          <a:ln w="25400">
            <a:solidFill>
              <a:srgbClr val="0071C5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3822191" y="3621024"/>
            <a:ext cx="1005841" cy="0"/>
          </a:xfrm>
          <a:prstGeom prst="line">
            <a:avLst/>
          </a:prstGeom>
          <a:ln w="25400">
            <a:solidFill>
              <a:srgbClr val="76B900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 flipH="1">
            <a:off x="4828032" y="4206240"/>
            <a:ext cx="566928" cy="329184"/>
          </a:xfrm>
          <a:prstGeom prst="line">
            <a:avLst/>
          </a:prstGeom>
          <a:ln w="25400">
            <a:solidFill>
              <a:srgbClr val="890C58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 flipV="1">
            <a:off x="5394960" y="3291840"/>
            <a:ext cx="0" cy="914400"/>
          </a:xfrm>
          <a:prstGeom prst="line">
            <a:avLst/>
          </a:prstGeom>
          <a:ln w="25400">
            <a:solidFill>
              <a:srgbClr val="0071C5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 flipH="1">
            <a:off x="4828032" y="3291840"/>
            <a:ext cx="566928" cy="329184"/>
          </a:xfrm>
          <a:prstGeom prst="line">
            <a:avLst/>
          </a:prstGeom>
          <a:ln w="25400">
            <a:solidFill>
              <a:srgbClr val="890C58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 flipV="1">
            <a:off x="4828032" y="3621024"/>
            <a:ext cx="0" cy="914400"/>
          </a:xfrm>
          <a:prstGeom prst="line">
            <a:avLst/>
          </a:prstGeom>
          <a:ln w="25400">
            <a:solidFill>
              <a:srgbClr val="0071C5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5394960" y="4206240"/>
            <a:ext cx="411480" cy="0"/>
          </a:xfrm>
          <a:prstGeom prst="line">
            <a:avLst/>
          </a:prstGeom>
          <a:ln w="19050">
            <a:solidFill>
              <a:srgbClr val="76B900"/>
            </a:solidFill>
            <a:prstDash val="dash"/>
          </a:ln>
          <a:effectLst/>
        </p:spPr>
      </p:cxnSp>
      <p:cxnSp>
        <p:nvCxnSpPr>
          <p:cNvPr id="22" name="Connector 21"/>
          <p:cNvCxnSpPr/>
          <p:nvPr/>
        </p:nvCxnSpPr>
        <p:spPr>
          <a:xfrm flipH="1">
            <a:off x="3977639" y="4206240"/>
            <a:ext cx="411481" cy="0"/>
          </a:xfrm>
          <a:prstGeom prst="line">
            <a:avLst/>
          </a:prstGeom>
          <a:ln w="19050">
            <a:solidFill>
              <a:srgbClr val="76B900"/>
            </a:solidFill>
            <a:prstDash val="dash"/>
          </a:ln>
          <a:effectLst/>
        </p:spPr>
      </p:cxnSp>
      <p:cxnSp>
        <p:nvCxnSpPr>
          <p:cNvPr id="23" name="Connector 22"/>
          <p:cNvCxnSpPr/>
          <p:nvPr/>
        </p:nvCxnSpPr>
        <p:spPr>
          <a:xfrm flipH="1">
            <a:off x="3547872" y="4535424"/>
            <a:ext cx="274319" cy="164592"/>
          </a:xfrm>
          <a:prstGeom prst="line">
            <a:avLst/>
          </a:prstGeom>
          <a:ln w="19050">
            <a:solidFill>
              <a:srgbClr val="890C58"/>
            </a:solidFill>
            <a:prstDash val="dash"/>
          </a:ln>
          <a:effectLst/>
        </p:spPr>
      </p:cxnSp>
      <p:cxnSp>
        <p:nvCxnSpPr>
          <p:cNvPr id="24" name="Connector 23"/>
          <p:cNvCxnSpPr/>
          <p:nvPr/>
        </p:nvCxnSpPr>
        <p:spPr>
          <a:xfrm flipV="1">
            <a:off x="4389120" y="4041648"/>
            <a:ext cx="274320" cy="164592"/>
          </a:xfrm>
          <a:prstGeom prst="line">
            <a:avLst/>
          </a:prstGeom>
          <a:ln w="19050">
            <a:solidFill>
              <a:srgbClr val="890C58"/>
            </a:solidFill>
            <a:prstDash val="dash"/>
          </a:ln>
          <a:effectLst/>
        </p:spPr>
      </p:cxnSp>
      <p:cxnSp>
        <p:nvCxnSpPr>
          <p:cNvPr id="25" name="Connector 24"/>
          <p:cNvCxnSpPr/>
          <p:nvPr/>
        </p:nvCxnSpPr>
        <p:spPr>
          <a:xfrm flipV="1">
            <a:off x="4389120" y="2926080"/>
            <a:ext cx="0" cy="365760"/>
          </a:xfrm>
          <a:prstGeom prst="line">
            <a:avLst/>
          </a:prstGeom>
          <a:ln w="19050">
            <a:solidFill>
              <a:srgbClr val="0071C5"/>
            </a:solidFill>
            <a:prstDash val="dash"/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4389120" y="4206240"/>
            <a:ext cx="0" cy="365760"/>
          </a:xfrm>
          <a:prstGeom prst="line">
            <a:avLst/>
          </a:prstGeom>
          <a:ln w="19050">
            <a:solidFill>
              <a:srgbClr val="0071C5"/>
            </a:solidFill>
            <a:prstDash val="dash"/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5897880" y="4069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6B900"/>
                </a:solidFill>
                <a:latin typeface="Arial"/>
              </a:rPr>
              <a:t>+x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20439" y="40690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76B900"/>
                </a:solidFill>
                <a:latin typeface="Arial"/>
              </a:rPr>
              <a:t>−x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44951" y="46268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890C58"/>
                </a:solidFill>
                <a:latin typeface="Arial"/>
              </a:rPr>
              <a:t>+y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51959" y="269748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71C5"/>
                </a:solidFill>
                <a:latin typeface="Arial"/>
              </a:rPr>
              <a:t>+z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" y="5029199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57575"/>
                </a:solidFill>
                <a:latin typeface="Arial"/>
              </a:rPr>
              <a:t>AXES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143000" y="5413247"/>
            <a:ext cx="365760" cy="0"/>
          </a:xfrm>
          <a:prstGeom prst="line">
            <a:avLst/>
          </a:prstGeom>
          <a:ln w="25400">
            <a:solidFill>
              <a:srgbClr val="76B900"/>
            </a:solidFill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1600200" y="5321807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Arial"/>
              </a:rPr>
              <a:t>+x  NVIDIA Green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143000" y="5687567"/>
            <a:ext cx="365760" cy="0"/>
          </a:xfrm>
          <a:prstGeom prst="line">
            <a:avLst/>
          </a:prstGeom>
          <a:ln w="25400">
            <a:solidFill>
              <a:srgbClr val="890C58"/>
            </a:solidFill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1600200" y="5596127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Arial"/>
              </a:rPr>
              <a:t>+y  Garnet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143000" y="5961888"/>
            <a:ext cx="365760" cy="0"/>
          </a:xfrm>
          <a:prstGeom prst="line">
            <a:avLst/>
          </a:prstGeom>
          <a:ln w="25400">
            <a:solidFill>
              <a:srgbClr val="0071C5"/>
            </a:solidFill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1600200" y="5870447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Arial"/>
              </a:rPr>
              <a:t>+z  CPU Blue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0" y="19202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57575"/>
                </a:solidFill>
                <a:latin typeface="Arial"/>
              </a:rPr>
              <a:t>RULES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228600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VIEW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0" y="2505456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Isometric. Do not rotate during narration.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0" y="2999232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EDGES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0" y="3218688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Color-encode the dimension.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3712464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WRAPAROUND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0" y="39319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Dashed stubs in the axis color at each corner.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0" y="442569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LABELS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44000" y="4645152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+x / -x / +y / -y / +z / -z.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0" y="5138928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USE WHEN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0" y="5358384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Nearest-neighbor stencils, HPC physics.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EFFE58E-4558-53E2-F583-996E8F4DA918}"/>
              </a:ext>
            </a:extLst>
          </p:cNvPr>
          <p:cNvGrpSpPr/>
          <p:nvPr/>
        </p:nvGrpSpPr>
        <p:grpSpPr>
          <a:xfrm>
            <a:off x="5195227" y="3083866"/>
            <a:ext cx="334151" cy="339139"/>
            <a:chOff x="10656323" y="4549140"/>
            <a:chExt cx="807149" cy="819198"/>
          </a:xfrm>
        </p:grpSpPr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3F79654A-AD71-205D-FADA-6208DE551E48}"/>
                </a:ext>
              </a:extLst>
            </p:cNvPr>
            <p:cNvSpPr/>
            <p:nvPr/>
          </p:nvSpPr>
          <p:spPr>
            <a:xfrm>
              <a:off x="10658475" y="4549140"/>
              <a:ext cx="804997" cy="804997"/>
            </a:xfrm>
            <a:prstGeom prst="cube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</a:gra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83" name="Graphic 82">
              <a:extLst>
                <a:ext uri="{FF2B5EF4-FFF2-40B4-BE49-F238E27FC236}">
                  <a16:creationId xmlns:a16="http://schemas.microsoft.com/office/drawing/2014/main" id="{FEB927BF-61F0-ABFA-4446-130B507A5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56323" y="4756339"/>
              <a:ext cx="611999" cy="611999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59EAE18-114C-74CD-FBB1-FAF1F15E470E}"/>
              </a:ext>
            </a:extLst>
          </p:cNvPr>
          <p:cNvGrpSpPr/>
          <p:nvPr/>
        </p:nvGrpSpPr>
        <p:grpSpPr>
          <a:xfrm>
            <a:off x="4184361" y="3107133"/>
            <a:ext cx="339175" cy="334115"/>
            <a:chOff x="10644187" y="4549140"/>
            <a:chExt cx="819285" cy="807062"/>
          </a:xfrm>
        </p:grpSpPr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644CFE8F-C06C-A1B5-A074-341EC1167050}"/>
                </a:ext>
              </a:extLst>
            </p:cNvPr>
            <p:cNvSpPr/>
            <p:nvPr/>
          </p:nvSpPr>
          <p:spPr>
            <a:xfrm>
              <a:off x="10658475" y="4549140"/>
              <a:ext cx="804997" cy="804997"/>
            </a:xfrm>
            <a:prstGeom prst="cube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</a:gra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86" name="Graphic 85">
              <a:extLst>
                <a:ext uri="{FF2B5EF4-FFF2-40B4-BE49-F238E27FC236}">
                  <a16:creationId xmlns:a16="http://schemas.microsoft.com/office/drawing/2014/main" id="{C52F1513-8E46-EB90-10EA-1435860CD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44187" y="4744203"/>
              <a:ext cx="611999" cy="611999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8D9F3C6-C54B-8B69-E967-A7E2EBCA2C95}"/>
              </a:ext>
            </a:extLst>
          </p:cNvPr>
          <p:cNvGrpSpPr/>
          <p:nvPr/>
        </p:nvGrpSpPr>
        <p:grpSpPr>
          <a:xfrm>
            <a:off x="4611991" y="3421128"/>
            <a:ext cx="339175" cy="339139"/>
            <a:chOff x="10644187" y="4549140"/>
            <a:chExt cx="819285" cy="819198"/>
          </a:xfrm>
        </p:grpSpPr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363417DE-503A-E709-5456-6C8EDD487B17}"/>
                </a:ext>
              </a:extLst>
            </p:cNvPr>
            <p:cNvSpPr/>
            <p:nvPr/>
          </p:nvSpPr>
          <p:spPr>
            <a:xfrm>
              <a:off x="10658475" y="4549140"/>
              <a:ext cx="804997" cy="804997"/>
            </a:xfrm>
            <a:prstGeom prst="cube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</a:gra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89" name="Graphic 88">
              <a:extLst>
                <a:ext uri="{FF2B5EF4-FFF2-40B4-BE49-F238E27FC236}">
                  <a16:creationId xmlns:a16="http://schemas.microsoft.com/office/drawing/2014/main" id="{4ED96616-DE7C-1EAC-7F6B-74598DC81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44187" y="4756339"/>
              <a:ext cx="612000" cy="611999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9D9DA67-D320-97A6-FD0E-1C71A6AAF9F0}"/>
              </a:ext>
            </a:extLst>
          </p:cNvPr>
          <p:cNvGrpSpPr/>
          <p:nvPr/>
        </p:nvGrpSpPr>
        <p:grpSpPr>
          <a:xfrm>
            <a:off x="3606151" y="3444394"/>
            <a:ext cx="339175" cy="339139"/>
            <a:chOff x="10644187" y="4549140"/>
            <a:chExt cx="819285" cy="819198"/>
          </a:xfrm>
        </p:grpSpPr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2670154B-D7DB-6B1D-9557-D635A4119FB1}"/>
                </a:ext>
              </a:extLst>
            </p:cNvPr>
            <p:cNvSpPr/>
            <p:nvPr/>
          </p:nvSpPr>
          <p:spPr>
            <a:xfrm>
              <a:off x="10658475" y="4549140"/>
              <a:ext cx="804997" cy="804997"/>
            </a:xfrm>
            <a:prstGeom prst="cube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</a:gra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92" name="Graphic 91">
              <a:extLst>
                <a:ext uri="{FF2B5EF4-FFF2-40B4-BE49-F238E27FC236}">
                  <a16:creationId xmlns:a16="http://schemas.microsoft.com/office/drawing/2014/main" id="{DF85DE27-368C-66B4-F5CC-8F1119C2E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44187" y="4756339"/>
              <a:ext cx="612000" cy="611999"/>
            </a:xfrm>
            <a:prstGeom prst="rect">
              <a:avLst/>
            </a:prstGeom>
          </p:spPr>
        </p:pic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3CDC64D-464B-0EF5-9F48-C2B6E54B9ED8}"/>
              </a:ext>
            </a:extLst>
          </p:cNvPr>
          <p:cNvGrpSpPr/>
          <p:nvPr/>
        </p:nvGrpSpPr>
        <p:grpSpPr>
          <a:xfrm>
            <a:off x="5134274" y="4082702"/>
            <a:ext cx="339175" cy="339139"/>
            <a:chOff x="10644187" y="4549140"/>
            <a:chExt cx="819285" cy="819198"/>
          </a:xfrm>
        </p:grpSpPr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D6D4AC4A-F163-FD99-A785-B92C58DB440A}"/>
                </a:ext>
              </a:extLst>
            </p:cNvPr>
            <p:cNvSpPr/>
            <p:nvPr/>
          </p:nvSpPr>
          <p:spPr>
            <a:xfrm>
              <a:off x="10658475" y="4549140"/>
              <a:ext cx="804997" cy="804997"/>
            </a:xfrm>
            <a:prstGeom prst="cube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</a:gra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95" name="Graphic 94">
              <a:extLst>
                <a:ext uri="{FF2B5EF4-FFF2-40B4-BE49-F238E27FC236}">
                  <a16:creationId xmlns:a16="http://schemas.microsoft.com/office/drawing/2014/main" id="{44C0DBA6-E926-1B51-454E-E5EDDA3F8B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44187" y="4756339"/>
              <a:ext cx="612000" cy="611999"/>
            </a:xfrm>
            <a:prstGeom prst="rect">
              <a:avLst/>
            </a:prstGeom>
          </p:spPr>
        </p:pic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09F123A-0115-D74A-79A7-40FF2999D9B2}"/>
              </a:ext>
            </a:extLst>
          </p:cNvPr>
          <p:cNvGrpSpPr/>
          <p:nvPr/>
        </p:nvGrpSpPr>
        <p:grpSpPr>
          <a:xfrm>
            <a:off x="4128434" y="4105968"/>
            <a:ext cx="339175" cy="339139"/>
            <a:chOff x="10644187" y="4549140"/>
            <a:chExt cx="819285" cy="819198"/>
          </a:xfrm>
        </p:grpSpPr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15F31EEA-2C7F-5FFA-6719-56EC4F17337C}"/>
                </a:ext>
              </a:extLst>
            </p:cNvPr>
            <p:cNvSpPr/>
            <p:nvPr/>
          </p:nvSpPr>
          <p:spPr>
            <a:xfrm>
              <a:off x="10658475" y="4549140"/>
              <a:ext cx="804997" cy="804997"/>
            </a:xfrm>
            <a:prstGeom prst="cube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</a:gra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EB651E48-02AC-5C4B-1ACE-446F3C127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44187" y="4756339"/>
              <a:ext cx="612000" cy="611999"/>
            </a:xfrm>
            <a:prstGeom prst="rect">
              <a:avLst/>
            </a:prstGeom>
          </p:spPr>
        </p:pic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75DE1789-3B58-547A-D41E-4060C2C44CC1}"/>
              </a:ext>
            </a:extLst>
          </p:cNvPr>
          <p:cNvGrpSpPr/>
          <p:nvPr/>
        </p:nvGrpSpPr>
        <p:grpSpPr>
          <a:xfrm>
            <a:off x="4556064" y="4419964"/>
            <a:ext cx="339175" cy="339139"/>
            <a:chOff x="10644187" y="4549140"/>
            <a:chExt cx="819285" cy="819198"/>
          </a:xfrm>
        </p:grpSpPr>
        <p:sp>
          <p:nvSpPr>
            <p:cNvPr id="100" name="Cube 99">
              <a:extLst>
                <a:ext uri="{FF2B5EF4-FFF2-40B4-BE49-F238E27FC236}">
                  <a16:creationId xmlns:a16="http://schemas.microsoft.com/office/drawing/2014/main" id="{8FB7DF51-51CB-9F31-00BE-53E158CF3F95}"/>
                </a:ext>
              </a:extLst>
            </p:cNvPr>
            <p:cNvSpPr/>
            <p:nvPr/>
          </p:nvSpPr>
          <p:spPr>
            <a:xfrm>
              <a:off x="10658475" y="4549140"/>
              <a:ext cx="804997" cy="804997"/>
            </a:xfrm>
            <a:prstGeom prst="cube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</a:gra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101" name="Graphic 100">
              <a:extLst>
                <a:ext uri="{FF2B5EF4-FFF2-40B4-BE49-F238E27FC236}">
                  <a16:creationId xmlns:a16="http://schemas.microsoft.com/office/drawing/2014/main" id="{3C9D76BB-FA8A-1EDB-015B-B3F08F2F4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44187" y="4756339"/>
              <a:ext cx="612000" cy="611999"/>
            </a:xfrm>
            <a:prstGeom prst="rect">
              <a:avLst/>
            </a:prstGeom>
          </p:spPr>
        </p:pic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04D1C4A-C0D4-461F-324F-2A5B7BEED8C4}"/>
              </a:ext>
            </a:extLst>
          </p:cNvPr>
          <p:cNvGrpSpPr/>
          <p:nvPr/>
        </p:nvGrpSpPr>
        <p:grpSpPr>
          <a:xfrm>
            <a:off x="3550224" y="4443230"/>
            <a:ext cx="339175" cy="339139"/>
            <a:chOff x="10644187" y="4549140"/>
            <a:chExt cx="819285" cy="819198"/>
          </a:xfrm>
        </p:grpSpPr>
        <p:sp>
          <p:nvSpPr>
            <p:cNvPr id="103" name="Cube 102">
              <a:extLst>
                <a:ext uri="{FF2B5EF4-FFF2-40B4-BE49-F238E27FC236}">
                  <a16:creationId xmlns:a16="http://schemas.microsoft.com/office/drawing/2014/main" id="{B8576005-2BD6-8025-046A-397BFEC24830}"/>
                </a:ext>
              </a:extLst>
            </p:cNvPr>
            <p:cNvSpPr/>
            <p:nvPr/>
          </p:nvSpPr>
          <p:spPr>
            <a:xfrm>
              <a:off x="10658475" y="4549140"/>
              <a:ext cx="804997" cy="804997"/>
            </a:xfrm>
            <a:prstGeom prst="cube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</a:gra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104" name="Graphic 103">
              <a:extLst>
                <a:ext uri="{FF2B5EF4-FFF2-40B4-BE49-F238E27FC236}">
                  <a16:creationId xmlns:a16="http://schemas.microsoft.com/office/drawing/2014/main" id="{0B5BCB35-E14C-0D23-C4D6-297A3D322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44187" y="4756339"/>
              <a:ext cx="612000" cy="611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6B900"/>
                </a:solidFill>
                <a:latin typeface="Arial"/>
              </a:rPr>
              <a:t>GUIDANCE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Arial"/>
              </a:rPr>
              <a:t>How to use this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Arial"/>
              </a:rPr>
              <a:t>Copy shapes, then customize — the geometry is the contract, not the styling.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  <a:latin typeface="Arial"/>
              </a:rPr>
              <a:t>NVIDIA Academy · Visual Foundations · Topology Sample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757575"/>
                </a:solidFill>
                <a:latin typeface="Arial"/>
              </a:rPr>
              <a:t>v0.1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447" y="1920240"/>
            <a:ext cx="53035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3767" y="21031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76B90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5287" y="212140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Arial"/>
              </a:rPr>
              <a:t>Copy the geometry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767" y="269748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B4B4B"/>
                </a:solidFill>
                <a:latin typeface="Arial"/>
              </a:rPr>
              <a:t>Click into a sample, copy the shape group, paste into your deck. Keep relative positions and proportions intact.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920240"/>
            <a:ext cx="53035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3047" y="21031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76B900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4567" y="212140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Arial"/>
              </a:rPr>
              <a:t>Rename the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269748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B4B4B"/>
                </a:solidFill>
                <a:latin typeface="Arial"/>
              </a:rPr>
              <a:t>Replace SP-1/LF-1 with your real switch names. Keep label position, size, and Arial Bold 14pt.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447" y="4023360"/>
            <a:ext cx="53035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3767" y="42062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76B900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5287" y="42245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Arial"/>
              </a:rPr>
              <a:t>Adjust counts, not styles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767" y="480060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B4B4B"/>
                </a:solidFill>
                <a:latin typeface="Arial"/>
              </a:rPr>
              <a:t>Add or remove rows of leaves/spines as needed. Do not change stroke weights, colors, or corner radii.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8727" y="4023360"/>
            <a:ext cx="53035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3047" y="42062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76B9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4567" y="42245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Arial"/>
              </a:rPr>
              <a:t>Encode meaning with color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480060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B4B4B"/>
                </a:solidFill>
                <a:latin typeface="Arial"/>
              </a:rPr>
              <a:t>Use NVIDIA Green for the hot path only. Reserve Garnet and CPU Blue for the second and third dimensions.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  <a:latin typeface="Arial"/>
              </a:rPr>
              <a:t>Full spec — naming, framing, labels, dimensions — at the Topologies page in the Visual Foundations portal.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  <wetp:taskpane dockstate="right" visibility="0" width="350" row="0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06AF5300-7A7B-D842-BF26-6198F873BC0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26bf8569-17d3-4365-886b-2b6f8e170b21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98994C3-27E7-A249-AA7B-9AE882E4483A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0de3eb59-fcef-4b80-a046-626a0e117d76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0DABE87F-BE2E-8848-8A94-07077728B8EE}">
  <we:reference id="a1b2c3d4-e5f6-7890-abcd-ef1234567890" version="1.0.6.0" store="developer" storeType="Registry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899</Words>
  <Application>Microsoft Macintosh PowerPoint</Application>
  <PresentationFormat>Widescreen</PresentationFormat>
  <Paragraphs>185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-apple-system</vt:lpstr>
      <vt:lpstr>Aptos</vt:lpstr>
      <vt:lpstr>Arial</vt:lpstr>
      <vt:lpstr>Calibri</vt:lpstr>
      <vt:lpstr>CiscoSansLight</vt:lpstr>
      <vt:lpstr>DIN Pro Regular</vt:lpstr>
      <vt:lpstr>Trebuchet MS</vt:lpstr>
      <vt:lpstr>Verdana</vt:lpstr>
      <vt:lpstr>Wingdings</vt:lpstr>
      <vt:lpstr>Office Theme</vt:lpstr>
      <vt:lpstr>Network Topology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Tal Alexander</cp:lastModifiedBy>
  <cp:revision>4</cp:revision>
  <dcterms:created xsi:type="dcterms:W3CDTF">2013-01-27T09:14:16Z</dcterms:created>
  <dcterms:modified xsi:type="dcterms:W3CDTF">2026-06-28T13:08:01Z</dcterms:modified>
  <cp:category/>
</cp:coreProperties>
</file>